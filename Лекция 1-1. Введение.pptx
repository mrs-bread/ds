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57" r:id="rId4"/>
    <p:sldId id="261" r:id="rId5"/>
    <p:sldId id="262" r:id="rId6"/>
    <p:sldId id="267" r:id="rId7"/>
    <p:sldId id="263" r:id="rId8"/>
    <p:sldId id="264" r:id="rId9"/>
    <p:sldId id="265" r:id="rId10"/>
    <p:sldId id="266" r:id="rId11"/>
    <p:sldId id="268" r:id="rId1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B6A0B07-7B1A-4EC0-ACA7-8DCCC5A4F08A}" type="datetimeFigureOut">
              <a:rPr lang="ru-RU" smtClean="0"/>
              <a:pPr/>
              <a:t>03.09.2024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D83477D-2642-42A2-ABB6-F254CC576C9D}"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6A0B07-7B1A-4EC0-ACA7-8DCCC5A4F08A}" type="datetimeFigureOut">
              <a:rPr lang="ru-RU" smtClean="0"/>
              <a:pPr/>
              <a:t>03.09.2024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83477D-2642-42A2-ABB6-F254CC576C9D}"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atsoft.ru/products/STATISTICA_Data_Miner/modules-statistica-data-miner.php" TargetMode="External"/><Relationship Id="rId2" Type="http://schemas.openxmlformats.org/officeDocument/2006/relationships/hyperlink" Target="https://blog.iteam.ru/data-mining-intellektualnyj-analiz-dannyh/" TargetMode="External"/><Relationship Id="rId1" Type="http://schemas.openxmlformats.org/officeDocument/2006/relationships/slideLayout" Target="../slideLayouts/slideLayout2.xml"/><Relationship Id="rId6" Type="http://schemas.openxmlformats.org/officeDocument/2006/relationships/hyperlink" Target="http://mechanoid.kiev.ua/neural-net-kohonen-clusterization.html" TargetMode="External"/><Relationship Id="rId5" Type="http://schemas.openxmlformats.org/officeDocument/2006/relationships/hyperlink" Target="https://neurohive.io/ru/osnovy-data-science/7-arhitektur-nejronnyh-setej-nlp/" TargetMode="External"/><Relationship Id="rId4" Type="http://schemas.openxmlformats.org/officeDocument/2006/relationships/hyperlink" Target="http://statsoft.ru/home/textbook/modules/stgrowtrees.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9512" y="260648"/>
            <a:ext cx="8507288" cy="6408712"/>
          </a:xfrm>
        </p:spPr>
        <p:txBody>
          <a:bodyPr>
            <a:normAutofit fontScale="55000" lnSpcReduction="20000"/>
          </a:bodyPr>
          <a:lstStyle/>
          <a:p>
            <a:pPr marL="0" indent="0" algn="ctr">
              <a:spcBef>
                <a:spcPts val="0"/>
              </a:spcBef>
              <a:buNone/>
            </a:pPr>
            <a:r>
              <a:rPr lang="ru-RU" b="1" dirty="0" smtClean="0">
                <a:latin typeface="Times New Roman" pitchFamily="18" charset="0"/>
                <a:cs typeface="Times New Roman" pitchFamily="18" charset="0"/>
              </a:rPr>
              <a:t>ЛИТЕРАТУРА</a:t>
            </a:r>
          </a:p>
          <a:p>
            <a:pPr marL="0" indent="0" algn="ctr">
              <a:spcBef>
                <a:spcPts val="0"/>
              </a:spcBef>
              <a:buNone/>
            </a:pPr>
            <a:endParaRPr lang="ru-RU" b="1" dirty="0" smtClean="0">
              <a:latin typeface="Times New Roman" pitchFamily="18" charset="0"/>
              <a:cs typeface="Times New Roman" pitchFamily="18" charset="0"/>
            </a:endParaRPr>
          </a:p>
          <a:p>
            <a:pPr marL="0" indent="0" algn="just">
              <a:lnSpc>
                <a:spcPct val="120000"/>
              </a:lnSpc>
              <a:spcBef>
                <a:spcPts val="0"/>
              </a:spcBef>
              <a:buNone/>
            </a:pPr>
            <a:r>
              <a:rPr lang="ru-RU" sz="2500" dirty="0" smtClean="0">
                <a:latin typeface="Times New Roman" pitchFamily="18" charset="0"/>
                <a:cs typeface="Times New Roman" pitchFamily="18" charset="0"/>
              </a:rPr>
              <a:t>    </a:t>
            </a:r>
            <a:r>
              <a:rPr lang="ru-RU" sz="2500" dirty="0" smtClean="0">
                <a:latin typeface="Times New Roman" pitchFamily="18" charset="0"/>
                <a:cs typeface="Times New Roman" pitchFamily="18" charset="0"/>
              </a:rPr>
              <a:t>1</a:t>
            </a:r>
            <a:r>
              <a:rPr lang="ru-RU" dirty="0" smtClean="0">
                <a:latin typeface="Times New Roman" pitchFamily="18" charset="0"/>
                <a:cs typeface="Times New Roman" pitchFamily="18" charset="0"/>
              </a:rPr>
              <a:t>. Халафян А.А. Методы машинного обучения в </a:t>
            </a:r>
            <a:r>
              <a:rPr lang="en-US" dirty="0" smtClean="0">
                <a:latin typeface="Times New Roman" pitchFamily="18" charset="0"/>
                <a:cs typeface="Times New Roman" pitchFamily="18" charset="0"/>
              </a:rPr>
              <a:t>DATA MINING </a:t>
            </a:r>
            <a:r>
              <a:rPr lang="ru-RU" dirty="0" smtClean="0">
                <a:latin typeface="Times New Roman" pitchFamily="18" charset="0"/>
                <a:cs typeface="Times New Roman" pitchFamily="18" charset="0"/>
              </a:rPr>
              <a:t>пакета  </a:t>
            </a:r>
            <a:r>
              <a:rPr lang="en-US" dirty="0" smtClean="0">
                <a:latin typeface="Times New Roman" pitchFamily="18" charset="0"/>
                <a:cs typeface="Times New Roman" pitchFamily="18" charset="0"/>
              </a:rPr>
              <a:t>STATISTICA</a:t>
            </a:r>
            <a:r>
              <a:rPr lang="ru-RU" dirty="0" smtClean="0">
                <a:latin typeface="Times New Roman" pitchFamily="18" charset="0"/>
                <a:cs typeface="Times New Roman" pitchFamily="18" charset="0"/>
              </a:rPr>
              <a:t>. М.: Горячая линия – Телеком. 2022г. 260с</a:t>
            </a:r>
            <a:r>
              <a:rPr lang="ru-RU" dirty="0" smtClean="0">
                <a:latin typeface="Times New Roman" pitchFamily="18" charset="0"/>
                <a:cs typeface="Times New Roman" pitchFamily="18" charset="0"/>
              </a:rPr>
              <a:t>.</a:t>
            </a:r>
          </a:p>
          <a:p>
            <a:pPr>
              <a:buNone/>
            </a:pPr>
            <a:r>
              <a:rPr lang="ru-RU" dirty="0" smtClean="0">
                <a:latin typeface="Times New Roman" pitchFamily="18" charset="0"/>
                <a:cs typeface="Times New Roman" pitchFamily="18" charset="0"/>
              </a:rPr>
              <a:t>    2. </a:t>
            </a:r>
            <a:r>
              <a:rPr lang="ru-RU" dirty="0" smtClean="0">
                <a:latin typeface="Times New Roman" pitchFamily="18" charset="0"/>
                <a:cs typeface="Times New Roman" pitchFamily="18" charset="0"/>
              </a:rPr>
              <a:t>Халафян А.А. Методы искусственного интеллекта в медицинских задачах классификации и регрессии. М.:  Горячая линия – Телеком, 2023.</a:t>
            </a:r>
          </a:p>
          <a:p>
            <a:pPr marL="0" indent="0" algn="just">
              <a:lnSpc>
                <a:spcPct val="120000"/>
              </a:lnSpc>
              <a:spcBef>
                <a:spcPts val="0"/>
              </a:spcBef>
              <a:buNone/>
            </a:pPr>
            <a:r>
              <a:rPr lang="ru-RU"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3</a:t>
            </a:r>
            <a:r>
              <a:rPr lang="ru-RU" dirty="0" smtClean="0">
                <a:latin typeface="Times New Roman" pitchFamily="18" charset="0"/>
                <a:cs typeface="Times New Roman" pitchFamily="18" charset="0"/>
              </a:rPr>
              <a:t>. </a:t>
            </a:r>
            <a:r>
              <a:rPr lang="ru-RU" dirty="0">
                <a:latin typeface="Times New Roman" pitchFamily="18" charset="0"/>
                <a:cs typeface="Times New Roman" pitchFamily="18" charset="0"/>
              </a:rPr>
              <a:t>В. </a:t>
            </a:r>
            <a:r>
              <a:rPr lang="ru-RU" dirty="0" err="1">
                <a:latin typeface="Times New Roman" pitchFamily="18" charset="0"/>
                <a:cs typeface="Times New Roman" pitchFamily="18" charset="0"/>
              </a:rPr>
              <a:t>Дюк</a:t>
            </a:r>
            <a:r>
              <a:rPr lang="ru-RU" dirty="0">
                <a:latin typeface="Times New Roman" pitchFamily="18" charset="0"/>
                <a:cs typeface="Times New Roman" pitchFamily="18" charset="0"/>
              </a:rPr>
              <a:t>. </a:t>
            </a:r>
            <a:r>
              <a:rPr lang="en-US" dirty="0">
                <a:latin typeface="Times New Roman" pitchFamily="18" charset="0"/>
                <a:cs typeface="Times New Roman" pitchFamily="18" charset="0"/>
              </a:rPr>
              <a:t>Data Mining</a:t>
            </a:r>
            <a:r>
              <a:rPr lang="ru-RU" dirty="0">
                <a:latin typeface="Times New Roman" pitchFamily="18" charset="0"/>
                <a:cs typeface="Times New Roman" pitchFamily="18" charset="0"/>
              </a:rPr>
              <a:t> – интеллектуальный анализ данных </a:t>
            </a:r>
            <a:r>
              <a:rPr lang="en-US" u="sng" dirty="0">
                <a:latin typeface="Times New Roman" pitchFamily="18" charset="0"/>
                <a:cs typeface="Times New Roman" pitchFamily="18" charset="0"/>
                <a:hlinkClick r:id="rId2"/>
              </a:rPr>
              <a:t>https</a:t>
            </a:r>
            <a:r>
              <a:rPr lang="ru-RU" u="sng" dirty="0">
                <a:latin typeface="Times New Roman" pitchFamily="18" charset="0"/>
                <a:cs typeface="Times New Roman" pitchFamily="18" charset="0"/>
                <a:hlinkClick r:id="rId2"/>
              </a:rPr>
              <a:t>://</a:t>
            </a:r>
            <a:r>
              <a:rPr lang="en-US" u="sng" dirty="0">
                <a:latin typeface="Times New Roman" pitchFamily="18" charset="0"/>
                <a:cs typeface="Times New Roman" pitchFamily="18" charset="0"/>
                <a:hlinkClick r:id="rId2"/>
              </a:rPr>
              <a:t>blog</a:t>
            </a:r>
            <a:r>
              <a:rPr lang="ru-RU" u="sng" dirty="0">
                <a:latin typeface="Times New Roman" pitchFamily="18" charset="0"/>
                <a:cs typeface="Times New Roman" pitchFamily="18" charset="0"/>
                <a:hlinkClick r:id="rId2"/>
              </a:rPr>
              <a:t>.</a:t>
            </a:r>
            <a:r>
              <a:rPr lang="en-US" u="sng" dirty="0" err="1">
                <a:latin typeface="Times New Roman" pitchFamily="18" charset="0"/>
                <a:cs typeface="Times New Roman" pitchFamily="18" charset="0"/>
                <a:hlinkClick r:id="rId2"/>
              </a:rPr>
              <a:t>iteam</a:t>
            </a:r>
            <a:r>
              <a:rPr lang="ru-RU" u="sng" dirty="0">
                <a:latin typeface="Times New Roman" pitchFamily="18" charset="0"/>
                <a:cs typeface="Times New Roman" pitchFamily="18" charset="0"/>
                <a:hlinkClick r:id="rId2"/>
              </a:rPr>
              <a:t>.</a:t>
            </a:r>
            <a:r>
              <a:rPr lang="en-US" u="sng" dirty="0" err="1">
                <a:latin typeface="Times New Roman" pitchFamily="18" charset="0"/>
                <a:cs typeface="Times New Roman" pitchFamily="18" charset="0"/>
                <a:hlinkClick r:id="rId2"/>
              </a:rPr>
              <a:t>ru</a:t>
            </a:r>
            <a:r>
              <a:rPr lang="ru-RU" u="sng" dirty="0">
                <a:latin typeface="Times New Roman" pitchFamily="18" charset="0"/>
                <a:cs typeface="Times New Roman" pitchFamily="18" charset="0"/>
                <a:hlinkClick r:id="rId2"/>
              </a:rPr>
              <a:t>/</a:t>
            </a:r>
            <a:r>
              <a:rPr lang="en-US" u="sng" dirty="0">
                <a:latin typeface="Times New Roman" pitchFamily="18" charset="0"/>
                <a:cs typeface="Times New Roman" pitchFamily="18" charset="0"/>
                <a:hlinkClick r:id="rId2"/>
              </a:rPr>
              <a:t>data</a:t>
            </a:r>
            <a:r>
              <a:rPr lang="ru-RU" u="sng" dirty="0">
                <a:latin typeface="Times New Roman" pitchFamily="18" charset="0"/>
                <a:cs typeface="Times New Roman" pitchFamily="18" charset="0"/>
                <a:hlinkClick r:id="rId2"/>
              </a:rPr>
              <a:t>-</a:t>
            </a:r>
            <a:r>
              <a:rPr lang="en-US" u="sng" dirty="0">
                <a:latin typeface="Times New Roman" pitchFamily="18" charset="0"/>
                <a:cs typeface="Times New Roman" pitchFamily="18" charset="0"/>
                <a:hlinkClick r:id="rId2"/>
              </a:rPr>
              <a:t>mining</a:t>
            </a:r>
            <a:r>
              <a:rPr lang="ru-RU" u="sng" dirty="0">
                <a:latin typeface="Times New Roman" pitchFamily="18" charset="0"/>
                <a:cs typeface="Times New Roman" pitchFamily="18" charset="0"/>
                <a:hlinkClick r:id="rId2"/>
              </a:rPr>
              <a:t>-</a:t>
            </a:r>
            <a:r>
              <a:rPr lang="en-US" u="sng" dirty="0" err="1">
                <a:latin typeface="Times New Roman" pitchFamily="18" charset="0"/>
                <a:cs typeface="Times New Roman" pitchFamily="18" charset="0"/>
                <a:hlinkClick r:id="rId2"/>
              </a:rPr>
              <a:t>intellektualnyj</a:t>
            </a:r>
            <a:r>
              <a:rPr lang="ru-RU" u="sng" dirty="0">
                <a:latin typeface="Times New Roman" pitchFamily="18" charset="0"/>
                <a:cs typeface="Times New Roman" pitchFamily="18" charset="0"/>
                <a:hlinkClick r:id="rId2"/>
              </a:rPr>
              <a:t>-</a:t>
            </a:r>
            <a:r>
              <a:rPr lang="en-US" u="sng" dirty="0" err="1">
                <a:latin typeface="Times New Roman" pitchFamily="18" charset="0"/>
                <a:cs typeface="Times New Roman" pitchFamily="18" charset="0"/>
                <a:hlinkClick r:id="rId2"/>
              </a:rPr>
              <a:t>analiz</a:t>
            </a:r>
            <a:r>
              <a:rPr lang="ru-RU" u="sng" dirty="0">
                <a:latin typeface="Times New Roman" pitchFamily="18" charset="0"/>
                <a:cs typeface="Times New Roman" pitchFamily="18" charset="0"/>
                <a:hlinkClick r:id="rId2"/>
              </a:rPr>
              <a:t>-</a:t>
            </a:r>
            <a:r>
              <a:rPr lang="en-US" u="sng" dirty="0" err="1">
                <a:latin typeface="Times New Roman" pitchFamily="18" charset="0"/>
                <a:cs typeface="Times New Roman" pitchFamily="18" charset="0"/>
                <a:hlinkClick r:id="rId2"/>
              </a:rPr>
              <a:t>dannyh</a:t>
            </a:r>
            <a:r>
              <a:rPr lang="ru-RU" u="sng" dirty="0">
                <a:latin typeface="Times New Roman" pitchFamily="18" charset="0"/>
                <a:cs typeface="Times New Roman" pitchFamily="18" charset="0"/>
                <a:hlinkClick r:id="rId2"/>
              </a:rPr>
              <a:t>/#</a:t>
            </a:r>
            <a:r>
              <a:rPr lang="en-US" u="sng" dirty="0" err="1">
                <a:latin typeface="Times New Roman" pitchFamily="18" charset="0"/>
                <a:cs typeface="Times New Roman" pitchFamily="18" charset="0"/>
                <a:hlinkClick r:id="rId2"/>
              </a:rPr>
              <a:t>metaslider</a:t>
            </a:r>
            <a:r>
              <a:rPr lang="ru-RU" u="sng" dirty="0">
                <a:latin typeface="Times New Roman" pitchFamily="18" charset="0"/>
                <a:cs typeface="Times New Roman" pitchFamily="18" charset="0"/>
                <a:hlinkClick r:id="rId2"/>
              </a:rPr>
              <a:t>_9552</a:t>
            </a:r>
            <a:endParaRPr lang="ru-RU" dirty="0">
              <a:latin typeface="Times New Roman" pitchFamily="18" charset="0"/>
              <a:cs typeface="Times New Roman" pitchFamily="18" charset="0"/>
            </a:endParaRPr>
          </a:p>
          <a:p>
            <a:pPr marL="0" indent="0" algn="just">
              <a:lnSpc>
                <a:spcPct val="120000"/>
              </a:lnSpc>
              <a:spcBef>
                <a:spcPts val="0"/>
              </a:spcBef>
              <a:buNone/>
            </a:pPr>
            <a:r>
              <a:rPr lang="ru-RU"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4. </a:t>
            </a:r>
            <a:r>
              <a:rPr lang="ru-RU" dirty="0" err="1">
                <a:latin typeface="Times New Roman" pitchFamily="18" charset="0"/>
                <a:cs typeface="Times New Roman" pitchFamily="18" charset="0"/>
              </a:rPr>
              <a:t>Барсегян</a:t>
            </a:r>
            <a:r>
              <a:rPr lang="ru-RU" dirty="0">
                <a:latin typeface="Times New Roman" pitchFamily="18" charset="0"/>
                <a:cs typeface="Times New Roman" pitchFamily="18" charset="0"/>
              </a:rPr>
              <a:t> А.А., Куприянов М.С. и др. Технологии анализа данных</a:t>
            </a:r>
            <a:r>
              <a:rPr lang="en-US" dirty="0">
                <a:latin typeface="Times New Roman" pitchFamily="18" charset="0"/>
                <a:cs typeface="Times New Roman" pitchFamily="18" charset="0"/>
              </a:rPr>
              <a:t>. Data Mining, Visual Mining, text Mining. – 2-</a:t>
            </a:r>
            <a:r>
              <a:rPr lang="ru-RU" dirty="0">
                <a:latin typeface="Times New Roman" pitchFamily="18" charset="0"/>
                <a:cs typeface="Times New Roman" pitchFamily="18" charset="0"/>
              </a:rPr>
              <a:t>е </a:t>
            </a:r>
            <a:r>
              <a:rPr lang="ru-RU" dirty="0" err="1">
                <a:latin typeface="Times New Roman" pitchFamily="18" charset="0"/>
                <a:cs typeface="Times New Roman" pitchFamily="18" charset="0"/>
              </a:rPr>
              <a:t>изд</a:t>
            </a:r>
            <a:r>
              <a:rPr lang="en-US" dirty="0">
                <a:latin typeface="Times New Roman" pitchFamily="18" charset="0"/>
                <a:cs typeface="Times New Roman" pitchFamily="18" charset="0"/>
              </a:rPr>
              <a:t>., </a:t>
            </a:r>
            <a:r>
              <a:rPr lang="ru-RU" dirty="0" err="1">
                <a:latin typeface="Times New Roman" pitchFamily="18" charset="0"/>
                <a:cs typeface="Times New Roman" pitchFamily="18" charset="0"/>
              </a:rPr>
              <a:t>перераб</a:t>
            </a:r>
            <a:r>
              <a:rPr lang="en-US" dirty="0">
                <a:latin typeface="Times New Roman" pitchFamily="18" charset="0"/>
                <a:cs typeface="Times New Roman" pitchFamily="18" charset="0"/>
              </a:rPr>
              <a:t>. </a:t>
            </a:r>
            <a:r>
              <a:rPr lang="ru-RU" dirty="0">
                <a:latin typeface="Times New Roman" pitchFamily="18" charset="0"/>
                <a:cs typeface="Times New Roman" pitchFamily="18" charset="0"/>
              </a:rPr>
              <a:t>и </a:t>
            </a:r>
            <a:r>
              <a:rPr lang="ru-RU" dirty="0" err="1">
                <a:latin typeface="Times New Roman" pitchFamily="18" charset="0"/>
                <a:cs typeface="Times New Roman" pitchFamily="18" charset="0"/>
              </a:rPr>
              <a:t>доп</a:t>
            </a:r>
            <a:r>
              <a:rPr lang="en-US" dirty="0">
                <a:latin typeface="Times New Roman" pitchFamily="18" charset="0"/>
                <a:cs typeface="Times New Roman" pitchFamily="18" charset="0"/>
              </a:rPr>
              <a:t>. – </a:t>
            </a:r>
            <a:r>
              <a:rPr lang="ru-RU" dirty="0">
                <a:latin typeface="Times New Roman" pitchFamily="18" charset="0"/>
                <a:cs typeface="Times New Roman" pitchFamily="18" charset="0"/>
              </a:rPr>
              <a:t>СПБ</a:t>
            </a:r>
            <a:r>
              <a:rPr lang="en-US" dirty="0">
                <a:latin typeface="Times New Roman" pitchFamily="18" charset="0"/>
                <a:cs typeface="Times New Roman" pitchFamily="18" charset="0"/>
              </a:rPr>
              <a:t>.:</a:t>
            </a:r>
            <a:r>
              <a:rPr lang="ru-RU" dirty="0">
                <a:latin typeface="Times New Roman" pitchFamily="18" charset="0"/>
                <a:cs typeface="Times New Roman" pitchFamily="18" charset="0"/>
              </a:rPr>
              <a:t>БХВ</a:t>
            </a:r>
            <a:r>
              <a:rPr lang="en-US" dirty="0">
                <a:latin typeface="Times New Roman" pitchFamily="18" charset="0"/>
                <a:cs typeface="Times New Roman" pitchFamily="18" charset="0"/>
              </a:rPr>
              <a:t>-</a:t>
            </a:r>
            <a:r>
              <a:rPr lang="ru-RU" dirty="0">
                <a:latin typeface="Times New Roman" pitchFamily="18" charset="0"/>
                <a:cs typeface="Times New Roman" pitchFamily="18" charset="0"/>
              </a:rPr>
              <a:t>Петербург</a:t>
            </a:r>
            <a:r>
              <a:rPr lang="en-US" dirty="0">
                <a:latin typeface="Times New Roman" pitchFamily="18" charset="0"/>
                <a:cs typeface="Times New Roman" pitchFamily="18" charset="0"/>
              </a:rPr>
              <a:t>, 2007.- </a:t>
            </a:r>
            <a:r>
              <a:rPr lang="ru-RU" dirty="0">
                <a:latin typeface="Times New Roman" pitchFamily="18" charset="0"/>
                <a:cs typeface="Times New Roman" pitchFamily="18" charset="0"/>
              </a:rPr>
              <a:t>384с.</a:t>
            </a:r>
            <a:r>
              <a:rPr lang="ru-RU" b="1" dirty="0">
                <a:latin typeface="Times New Roman" pitchFamily="18" charset="0"/>
                <a:cs typeface="Times New Roman" pitchFamily="18" charset="0"/>
              </a:rPr>
              <a:t> </a:t>
            </a:r>
            <a:endParaRPr lang="ru-RU" dirty="0">
              <a:latin typeface="Times New Roman" pitchFamily="18" charset="0"/>
              <a:cs typeface="Times New Roman" pitchFamily="18" charset="0"/>
            </a:endParaRPr>
          </a:p>
          <a:p>
            <a:pPr marL="0" indent="0" algn="just">
              <a:lnSpc>
                <a:spcPct val="120000"/>
              </a:lnSpc>
              <a:spcBef>
                <a:spcPts val="0"/>
              </a:spcBef>
              <a:buNone/>
            </a:pPr>
            <a:r>
              <a:rPr lang="ru-RU"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5. </a:t>
            </a:r>
            <a:r>
              <a:rPr lang="ru-RU" dirty="0">
                <a:latin typeface="Times New Roman" pitchFamily="18" charset="0"/>
                <a:cs typeface="Times New Roman" pitchFamily="18" charset="0"/>
              </a:rPr>
              <a:t>Халафян А.А. </a:t>
            </a:r>
            <a:r>
              <a:rPr lang="en-US" dirty="0">
                <a:latin typeface="Times New Roman" pitchFamily="18" charset="0"/>
                <a:cs typeface="Times New Roman" pitchFamily="18" charset="0"/>
              </a:rPr>
              <a:t>STATISTICA</a:t>
            </a:r>
            <a:r>
              <a:rPr lang="ru-RU" dirty="0">
                <a:latin typeface="Times New Roman" pitchFamily="18" charset="0"/>
                <a:cs typeface="Times New Roman" pitchFamily="18" charset="0"/>
              </a:rPr>
              <a:t> 6. Статистический анализ данных. М</a:t>
            </a:r>
            <a:r>
              <a:rPr lang="en-US" dirty="0">
                <a:latin typeface="Times New Roman" pitchFamily="18" charset="0"/>
                <a:cs typeface="Times New Roman" pitchFamily="18" charset="0"/>
              </a:rPr>
              <a:t>.: </a:t>
            </a:r>
            <a:r>
              <a:rPr lang="ru-RU" dirty="0">
                <a:latin typeface="Times New Roman" pitchFamily="18" charset="0"/>
                <a:cs typeface="Times New Roman" pitchFamily="18" charset="0"/>
              </a:rPr>
              <a:t>Бином</a:t>
            </a:r>
            <a:r>
              <a:rPr lang="en-US" dirty="0">
                <a:latin typeface="Times New Roman" pitchFamily="18" charset="0"/>
                <a:cs typeface="Times New Roman" pitchFamily="18" charset="0"/>
              </a:rPr>
              <a:t>, 2009. 528 </a:t>
            </a:r>
            <a:r>
              <a:rPr lang="ru-RU" dirty="0">
                <a:latin typeface="Times New Roman" pitchFamily="18" charset="0"/>
                <a:cs typeface="Times New Roman" pitchFamily="18" charset="0"/>
              </a:rPr>
              <a:t>с</a:t>
            </a:r>
            <a:r>
              <a:rPr lang="en-US"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marL="0" indent="0" algn="just">
              <a:lnSpc>
                <a:spcPct val="120000"/>
              </a:lnSpc>
              <a:spcBef>
                <a:spcPts val="0"/>
              </a:spcBef>
              <a:buNone/>
            </a:pPr>
            <a:r>
              <a:rPr lang="ru-RU"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6. </a:t>
            </a:r>
            <a:r>
              <a:rPr lang="ru-RU" dirty="0">
                <a:latin typeface="Times New Roman" pitchFamily="18" charset="0"/>
                <a:cs typeface="Times New Roman" pitchFamily="18" charset="0"/>
              </a:rPr>
              <a:t>Халафян А.А. </a:t>
            </a:r>
            <a:r>
              <a:rPr lang="en-US" dirty="0">
                <a:latin typeface="Times New Roman" pitchFamily="18" charset="0"/>
                <a:cs typeface="Times New Roman" pitchFamily="18" charset="0"/>
              </a:rPr>
              <a:t>STATISTICA</a:t>
            </a:r>
            <a:r>
              <a:rPr lang="ru-RU" dirty="0">
                <a:latin typeface="Times New Roman" pitchFamily="18" charset="0"/>
                <a:cs typeface="Times New Roman" pitchFamily="18" charset="0"/>
              </a:rPr>
              <a:t> 6. Математическая статистика с элементами теории вероятностей. М.: Бином, 2010. 456 с.</a:t>
            </a:r>
          </a:p>
          <a:p>
            <a:pPr marL="0" indent="0" algn="just">
              <a:lnSpc>
                <a:spcPct val="120000"/>
              </a:lnSpc>
              <a:spcBef>
                <a:spcPts val="0"/>
              </a:spcBef>
              <a:buNone/>
            </a:pPr>
            <a:r>
              <a:rPr lang="ru-RU"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7. </a:t>
            </a:r>
            <a:r>
              <a:rPr lang="ru-RU" u="sng" dirty="0">
                <a:latin typeface="Times New Roman" pitchFamily="18" charset="0"/>
                <a:cs typeface="Times New Roman" pitchFamily="18" charset="0"/>
                <a:hlinkClick r:id="rId3"/>
              </a:rPr>
              <a:t>http://statsoft.ru/products/STATISTICA_Data_Miner/modules-statistica-data-miner.php</a:t>
            </a:r>
            <a:endParaRPr lang="ru-RU" dirty="0">
              <a:latin typeface="Times New Roman" pitchFamily="18" charset="0"/>
              <a:cs typeface="Times New Roman" pitchFamily="18" charset="0"/>
            </a:endParaRPr>
          </a:p>
          <a:p>
            <a:pPr marL="0" indent="0" algn="just">
              <a:lnSpc>
                <a:spcPct val="120000"/>
              </a:lnSpc>
              <a:spcBef>
                <a:spcPts val="0"/>
              </a:spcBef>
              <a:buNone/>
            </a:pPr>
            <a:r>
              <a:rPr lang="ru-RU"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8. </a:t>
            </a:r>
            <a:r>
              <a:rPr lang="ru-RU" u="sng" dirty="0">
                <a:latin typeface="Times New Roman" pitchFamily="18" charset="0"/>
                <a:cs typeface="Times New Roman" pitchFamily="18" charset="0"/>
                <a:hlinkClick r:id="rId4"/>
              </a:rPr>
              <a:t>http://statsoft.ru/home/textbook/modules/stgrowtrees.html</a:t>
            </a:r>
            <a:endParaRPr lang="ru-RU" dirty="0">
              <a:latin typeface="Times New Roman" pitchFamily="18" charset="0"/>
              <a:cs typeface="Times New Roman" pitchFamily="18" charset="0"/>
            </a:endParaRPr>
          </a:p>
          <a:p>
            <a:pPr marL="0" indent="0" algn="just">
              <a:lnSpc>
                <a:spcPct val="120000"/>
              </a:lnSpc>
              <a:spcBef>
                <a:spcPts val="0"/>
              </a:spcBef>
              <a:buNone/>
            </a:pPr>
            <a:r>
              <a:rPr lang="ru-RU"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9</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STATISTICA Electronic Manual</a:t>
            </a:r>
            <a:endParaRPr lang="ru-RU" dirty="0">
              <a:latin typeface="Times New Roman" pitchFamily="18" charset="0"/>
              <a:cs typeface="Times New Roman" pitchFamily="18" charset="0"/>
            </a:endParaRPr>
          </a:p>
          <a:p>
            <a:pPr marL="0" indent="0" algn="just">
              <a:lnSpc>
                <a:spcPct val="120000"/>
              </a:lnSpc>
              <a:spcBef>
                <a:spcPts val="0"/>
              </a:spcBef>
              <a:buNone/>
            </a:pPr>
            <a:r>
              <a:rPr lang="ru-RU"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10</a:t>
            </a:r>
            <a:r>
              <a:rPr lang="en-US" dirty="0" smtClean="0">
                <a:latin typeface="Times New Roman" pitchFamily="18" charset="0"/>
                <a:cs typeface="Times New Roman" pitchFamily="18" charset="0"/>
              </a:rPr>
              <a:t>. </a:t>
            </a:r>
            <a:r>
              <a:rPr lang="en-US" u="sng" dirty="0">
                <a:latin typeface="Times New Roman" pitchFamily="18" charset="0"/>
                <a:cs typeface="Times New Roman" pitchFamily="18" charset="0"/>
                <a:hlinkClick r:id="rId5"/>
              </a:rPr>
              <a:t>https://neurohive.io/ru/osnovy-data-science/7-arhitektur-nejronnyh-setej-</a:t>
            </a:r>
            <a:r>
              <a:rPr lang="en-US" dirty="0">
                <a:latin typeface="Times New Roman" pitchFamily="18" charset="0"/>
                <a:cs typeface="Times New Roman" pitchFamily="18" charset="0"/>
              </a:rPr>
              <a:t> </a:t>
            </a:r>
            <a:endParaRPr lang="ru-RU" dirty="0">
              <a:latin typeface="Times New Roman" pitchFamily="18" charset="0"/>
              <a:cs typeface="Times New Roman" pitchFamily="18" charset="0"/>
            </a:endParaRPr>
          </a:p>
          <a:p>
            <a:pPr marL="0" indent="0" algn="just">
              <a:lnSpc>
                <a:spcPct val="120000"/>
              </a:lnSpc>
              <a:spcBef>
                <a:spcPts val="0"/>
              </a:spcBef>
              <a:buNone/>
            </a:pPr>
            <a:r>
              <a:rPr lang="ru-RU"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11</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T.Kohonen</a:t>
            </a:r>
            <a:r>
              <a:rPr lang="en-US" dirty="0">
                <a:latin typeface="Times New Roman" pitchFamily="18" charset="0"/>
                <a:cs typeface="Times New Roman" pitchFamily="18" charset="0"/>
              </a:rPr>
              <a:t>, "Self-Organizing Maps Springer, 1995.</a:t>
            </a:r>
            <a:endParaRPr lang="ru-RU" dirty="0">
              <a:latin typeface="Times New Roman" pitchFamily="18" charset="0"/>
              <a:cs typeface="Times New Roman" pitchFamily="18" charset="0"/>
            </a:endParaRPr>
          </a:p>
          <a:p>
            <a:pPr marL="0" indent="0" algn="just">
              <a:lnSpc>
                <a:spcPct val="120000"/>
              </a:lnSpc>
              <a:spcBef>
                <a:spcPts val="0"/>
              </a:spcBef>
              <a:buNone/>
            </a:pPr>
            <a:r>
              <a:rPr lang="ru-RU"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1</a:t>
            </a:r>
            <a:r>
              <a:rPr lang="ru-RU"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a:t>
            </a:r>
            <a:r>
              <a:rPr lang="en-US" u="sng" dirty="0">
                <a:latin typeface="Times New Roman" pitchFamily="18" charset="0"/>
                <a:cs typeface="Times New Roman" pitchFamily="18" charset="0"/>
                <a:hlinkClick r:id="rId6"/>
              </a:rPr>
              <a:t>http://mechanoid.kiev.ua/neural-net-kohonen-clusterization.html</a:t>
            </a:r>
            <a:endParaRPr lang="ru-RU"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07504" y="260648"/>
            <a:ext cx="8784976" cy="6408712"/>
          </a:xfrm>
        </p:spPr>
        <p:txBody>
          <a:bodyPr>
            <a:normAutofit fontScale="55000" lnSpcReduction="20000"/>
          </a:bodyPr>
          <a:lstStyle/>
          <a:p>
            <a:pPr algn="just"/>
            <a:r>
              <a:rPr lang="ru-RU" dirty="0" smtClean="0">
                <a:solidFill>
                  <a:schemeClr val="tx1"/>
                </a:solidFill>
                <a:latin typeface="Times New Roman" pitchFamily="18" charset="0"/>
                <a:cs typeface="Times New Roman" pitchFamily="18" charset="0"/>
              </a:rPr>
              <a:t>    </a:t>
            </a:r>
            <a:endParaRPr lang="ru-RU" dirty="0" smtClean="0">
              <a:solidFill>
                <a:schemeClr val="tx1"/>
              </a:solidFill>
              <a:latin typeface="Times New Roman" pitchFamily="18" charset="0"/>
              <a:cs typeface="Times New Roman" pitchFamily="18" charset="0"/>
            </a:endParaRPr>
          </a:p>
          <a:p>
            <a:pPr algn="just"/>
            <a:r>
              <a:rPr lang="ru-RU" dirty="0" smtClean="0">
                <a:solidFill>
                  <a:schemeClr val="tx1"/>
                </a:solidFill>
                <a:latin typeface="Times New Roman" pitchFamily="18" charset="0"/>
                <a:cs typeface="Times New Roman" pitchFamily="18" charset="0"/>
              </a:rPr>
              <a:t>В </a:t>
            </a:r>
            <a:r>
              <a:rPr lang="ru-RU" dirty="0">
                <a:solidFill>
                  <a:schemeClr val="tx1"/>
                </a:solidFill>
                <a:latin typeface="Times New Roman" pitchFamily="18" charset="0"/>
                <a:cs typeface="Times New Roman" pitchFamily="18" charset="0"/>
              </a:rPr>
              <a:t>современном развивающемся мире неуклонно растут объёмы накопленных данных. Одним из способов их переработки являются современные компьютерные технологии анализа данных, в том числе программа Data Mining в среде пакета STATISTICA. </a:t>
            </a:r>
          </a:p>
          <a:p>
            <a:pPr algn="just"/>
            <a:r>
              <a:rPr lang="ru-RU" dirty="0" smtClean="0">
                <a:solidFill>
                  <a:schemeClr val="tx1"/>
                </a:solidFill>
                <a:latin typeface="Times New Roman" pitchFamily="18" charset="0"/>
                <a:cs typeface="Times New Roman" pitchFamily="18" charset="0"/>
              </a:rPr>
              <a:t>    Термин </a:t>
            </a:r>
            <a:r>
              <a:rPr lang="ru-RU" dirty="0">
                <a:solidFill>
                  <a:schemeClr val="tx1"/>
                </a:solidFill>
                <a:latin typeface="Times New Roman" pitchFamily="18" charset="0"/>
                <a:cs typeface="Times New Roman" pitchFamily="18" charset="0"/>
              </a:rPr>
              <a:t>Data Mining можно перевести как «добыча данных» или «раскопка данных». Нередко под термином Data Mining подразумевают «обнаружение знаний в базах данных» (knowledge discovery in databases) и «интеллектуальный анализ данных» </a:t>
            </a:r>
            <a:r>
              <a:rPr lang="ru-RU" dirty="0" smtClean="0">
                <a:solidFill>
                  <a:schemeClr val="tx1"/>
                </a:solidFill>
                <a:latin typeface="Times New Roman" pitchFamily="18" charset="0"/>
                <a:cs typeface="Times New Roman" pitchFamily="18" charset="0"/>
              </a:rPr>
              <a:t>[2]. </a:t>
            </a:r>
          </a:p>
          <a:p>
            <a:pPr algn="just"/>
            <a:r>
              <a:rPr lang="ru-RU" dirty="0">
                <a:solidFill>
                  <a:schemeClr val="tx1"/>
                </a:solidFill>
                <a:latin typeface="Times New Roman" pitchFamily="18" charset="0"/>
                <a:cs typeface="Times New Roman" pitchFamily="18" charset="0"/>
              </a:rPr>
              <a:t> </a:t>
            </a:r>
            <a:r>
              <a:rPr lang="ru-RU" dirty="0" smtClean="0">
                <a:solidFill>
                  <a:schemeClr val="tx1"/>
                </a:solidFill>
                <a:latin typeface="Times New Roman" pitchFamily="18" charset="0"/>
                <a:cs typeface="Times New Roman" pitchFamily="18" charset="0"/>
              </a:rPr>
              <a:t>   В </a:t>
            </a:r>
            <a:r>
              <a:rPr lang="ru-RU" dirty="0">
                <a:solidFill>
                  <a:schemeClr val="tx1"/>
                </a:solidFill>
                <a:latin typeface="Times New Roman" pitchFamily="18" charset="0"/>
                <a:cs typeface="Times New Roman" pitchFamily="18" charset="0"/>
              </a:rPr>
              <a:t>настоящее время термин Data mining – собирательное название, используемое для обозначения методов выявления в данных новых знаний, полезных и необходимых для принятия решений в различных сферах человеческой деятельности. Определение этому термину дал Григорий Пятецкий-Шапиро в 1996 году </a:t>
            </a:r>
            <a:r>
              <a:rPr lang="ru-RU" dirty="0" smtClean="0">
                <a:solidFill>
                  <a:schemeClr val="tx1"/>
                </a:solidFill>
                <a:latin typeface="Times New Roman" pitchFamily="18" charset="0"/>
                <a:cs typeface="Times New Roman" pitchFamily="18" charset="0"/>
              </a:rPr>
              <a:t>[3]: </a:t>
            </a:r>
            <a:r>
              <a:rPr lang="ru-RU" dirty="0">
                <a:solidFill>
                  <a:schemeClr val="tx1"/>
                </a:solidFill>
                <a:latin typeface="Times New Roman" pitchFamily="18" charset="0"/>
                <a:cs typeface="Times New Roman" pitchFamily="18" charset="0"/>
              </a:rPr>
              <a:t>Data Mining – исследование и обнаружение </a:t>
            </a:r>
            <a:r>
              <a:rPr lang="ru-RU" b="1" dirty="0">
                <a:solidFill>
                  <a:schemeClr val="tx1"/>
                </a:solidFill>
                <a:latin typeface="Times New Roman" pitchFamily="18" charset="0"/>
                <a:cs typeface="Times New Roman" pitchFamily="18" charset="0"/>
              </a:rPr>
              <a:t>"машиной</a:t>
            </a:r>
            <a:r>
              <a:rPr lang="ru-RU" dirty="0">
                <a:solidFill>
                  <a:schemeClr val="tx1"/>
                </a:solidFill>
                <a:latin typeface="Times New Roman" pitchFamily="18" charset="0"/>
                <a:cs typeface="Times New Roman" pitchFamily="18" charset="0"/>
              </a:rPr>
              <a:t>" (алгоритмами, средствами искусственного интеллекта) в </a:t>
            </a:r>
            <a:r>
              <a:rPr lang="ru-RU" dirty="0">
                <a:solidFill>
                  <a:srgbClr val="FF0000"/>
                </a:solidFill>
                <a:latin typeface="Times New Roman" pitchFamily="18" charset="0"/>
                <a:cs typeface="Times New Roman" pitchFamily="18" charset="0"/>
              </a:rPr>
              <a:t>сырых </a:t>
            </a:r>
            <a:r>
              <a:rPr lang="ru-RU" dirty="0">
                <a:solidFill>
                  <a:schemeClr val="tx1"/>
                </a:solidFill>
                <a:latin typeface="Times New Roman" pitchFamily="18" charset="0"/>
                <a:cs typeface="Times New Roman" pitchFamily="18" charset="0"/>
              </a:rPr>
              <a:t>данных скрытых знаний, которые ранее не были известны, нетривиальны, практически полезны, доступны для интерпретации человеком. </a:t>
            </a:r>
            <a:r>
              <a:rPr lang="ru-RU" dirty="0" smtClean="0">
                <a:solidFill>
                  <a:schemeClr val="tx1"/>
                </a:solidFill>
                <a:latin typeface="Times New Roman" pitchFamily="18" charset="0"/>
                <a:cs typeface="Times New Roman" pitchFamily="18" charset="0"/>
              </a:rPr>
              <a:t>Присутствие в определении слова «машиной» подразумевает, что в методах Data Mining  применяется </a:t>
            </a:r>
            <a:r>
              <a:rPr lang="ru-RU" b="1" dirty="0" smtClean="0">
                <a:solidFill>
                  <a:schemeClr val="tx1"/>
                </a:solidFill>
                <a:latin typeface="Times New Roman" pitchFamily="18" charset="0"/>
                <a:cs typeface="Times New Roman" pitchFamily="18" charset="0"/>
              </a:rPr>
              <a:t>машинное обучение</a:t>
            </a:r>
            <a:r>
              <a:rPr lang="ru-RU" dirty="0" smtClean="0">
                <a:solidFill>
                  <a:schemeClr val="tx1"/>
                </a:solidFill>
                <a:latin typeface="Times New Roman" pitchFamily="18" charset="0"/>
                <a:cs typeface="Times New Roman" pitchFamily="18" charset="0"/>
              </a:rPr>
              <a:t>!</a:t>
            </a:r>
          </a:p>
          <a:p>
            <a:pPr algn="just"/>
            <a:r>
              <a:rPr lang="ru-RU" dirty="0" smtClean="0">
                <a:solidFill>
                  <a:schemeClr val="tx1"/>
                </a:solidFill>
                <a:latin typeface="Times New Roman" pitchFamily="18" charset="0"/>
                <a:cs typeface="Times New Roman" pitchFamily="18" charset="0"/>
              </a:rPr>
              <a:t>     Совершенствование </a:t>
            </a:r>
            <a:r>
              <a:rPr lang="ru-RU" dirty="0">
                <a:solidFill>
                  <a:schemeClr val="tx1"/>
                </a:solidFill>
                <a:latin typeface="Times New Roman" pitchFamily="18" charset="0"/>
                <a:cs typeface="Times New Roman" pitchFamily="18" charset="0"/>
              </a:rPr>
              <a:t>технологий сбора, хранения данных позволило накапливать огромные потоки информации в различных областях человеческой деятельности, поэтому применение статистических методов, основанных на </a:t>
            </a:r>
            <a:r>
              <a:rPr lang="ru-RU" dirty="0">
                <a:solidFill>
                  <a:srgbClr val="FF0000"/>
                </a:solidFill>
                <a:latin typeface="Times New Roman" pitchFamily="18" charset="0"/>
                <a:cs typeface="Times New Roman" pitchFamily="18" charset="0"/>
              </a:rPr>
              <a:t>парадигме среднего</a:t>
            </a:r>
            <a:r>
              <a:rPr lang="ru-RU" dirty="0">
                <a:solidFill>
                  <a:schemeClr val="tx1"/>
                </a:solidFill>
                <a:latin typeface="Times New Roman" pitchFamily="18" charset="0"/>
                <a:cs typeface="Times New Roman" pitchFamily="18" charset="0"/>
              </a:rPr>
              <a:t>, стало неэффективным. </a:t>
            </a:r>
            <a:r>
              <a:rPr lang="ru-RU" b="1" dirty="0">
                <a:solidFill>
                  <a:schemeClr val="tx1"/>
                </a:solidFill>
                <a:latin typeface="Times New Roman" pitchFamily="18" charset="0"/>
                <a:cs typeface="Times New Roman" pitchFamily="18" charset="0"/>
              </a:rPr>
              <a:t>Одна из причин, та, что в основе прикладной статистики лежат операции над </a:t>
            </a:r>
            <a:r>
              <a:rPr lang="ru-RU" b="1" dirty="0" smtClean="0">
                <a:solidFill>
                  <a:schemeClr val="tx1"/>
                </a:solidFill>
                <a:latin typeface="Times New Roman" pitchFamily="18" charset="0"/>
                <a:cs typeface="Times New Roman" pitchFamily="18" charset="0"/>
              </a:rPr>
              <a:t>средней арифметической, являющейся по сути, виртуальной величиной</a:t>
            </a:r>
            <a:r>
              <a:rPr lang="ru-RU" dirty="0" smtClean="0">
                <a:solidFill>
                  <a:schemeClr val="tx1"/>
                </a:solidFill>
                <a:latin typeface="Times New Roman" pitchFamily="18" charset="0"/>
                <a:cs typeface="Times New Roman" pitchFamily="18" charset="0"/>
              </a:rPr>
              <a:t> </a:t>
            </a:r>
            <a:r>
              <a:rPr lang="ru-RU" dirty="0">
                <a:solidFill>
                  <a:schemeClr val="tx1"/>
                </a:solidFill>
                <a:latin typeface="Times New Roman" pitchFamily="18" charset="0"/>
                <a:cs typeface="Times New Roman" pitchFamily="18" charset="0"/>
              </a:rPr>
              <a:t>(средняя температура больных в больнице, средняя зарплата граждан по стране и т.д.). </a:t>
            </a:r>
            <a:r>
              <a:rPr lang="ru-RU" dirty="0" smtClean="0">
                <a:solidFill>
                  <a:schemeClr val="tx1"/>
                </a:solidFill>
                <a:latin typeface="Times New Roman" pitchFamily="18" charset="0"/>
                <a:cs typeface="Times New Roman" pitchFamily="18" charset="0"/>
              </a:rPr>
              <a:t>Также надо </a:t>
            </a:r>
            <a:r>
              <a:rPr lang="ru-RU" dirty="0" smtClean="0">
                <a:solidFill>
                  <a:schemeClr val="tx1"/>
                </a:solidFill>
                <a:latin typeface="Times New Roman" pitchFamily="18" charset="0"/>
                <a:cs typeface="Times New Roman" pitchFamily="18" charset="0"/>
              </a:rPr>
              <a:t>учитывать, то, что существуют ограничения для корректного применения среднего, например, небольшие разбросы, симметричность распределения. </a:t>
            </a:r>
            <a:r>
              <a:rPr lang="ru-RU" dirty="0" smtClean="0">
                <a:solidFill>
                  <a:schemeClr val="tx1"/>
                </a:solidFill>
                <a:latin typeface="Times New Roman" pitchFamily="18" charset="0"/>
                <a:cs typeface="Times New Roman" pitchFamily="18" charset="0"/>
              </a:rPr>
              <a:t>Другая </a:t>
            </a:r>
            <a:r>
              <a:rPr lang="ru-RU" dirty="0">
                <a:solidFill>
                  <a:schemeClr val="tx1"/>
                </a:solidFill>
                <a:latin typeface="Times New Roman" pitchFamily="18" charset="0"/>
                <a:cs typeface="Times New Roman" pitchFamily="18" charset="0"/>
              </a:rPr>
              <a:t>причина в </a:t>
            </a:r>
            <a:r>
              <a:rPr lang="ru-RU" b="1" dirty="0">
                <a:solidFill>
                  <a:schemeClr val="tx1"/>
                </a:solidFill>
                <a:latin typeface="Times New Roman" pitchFamily="18" charset="0"/>
                <a:cs typeface="Times New Roman" pitchFamily="18" charset="0"/>
              </a:rPr>
              <a:t>структуре современных данных</a:t>
            </a:r>
            <a:r>
              <a:rPr lang="ru-RU" dirty="0">
                <a:solidFill>
                  <a:schemeClr val="tx1"/>
                </a:solidFill>
                <a:latin typeface="Times New Roman" pitchFamily="18" charset="0"/>
                <a:cs typeface="Times New Roman" pitchFamily="18" charset="0"/>
              </a:rPr>
              <a:t>, которые могут быть разнородными (количественными, качественными, текстовыми) и неограниченного объема. </a:t>
            </a:r>
          </a:p>
          <a:p>
            <a:endParaRPr lang="ru-RU" dirty="0"/>
          </a:p>
        </p:txBody>
      </p:sp>
      <p:sp>
        <p:nvSpPr>
          <p:cNvPr id="4" name="Заголовок 3"/>
          <p:cNvSpPr>
            <a:spLocks noGrp="1"/>
          </p:cNvSpPr>
          <p:nvPr>
            <p:ph type="ctrTitle"/>
          </p:nvPr>
        </p:nvSpPr>
        <p:spPr>
          <a:xfrm>
            <a:off x="827584" y="0"/>
            <a:ext cx="7632848" cy="288031"/>
          </a:xfrm>
        </p:spPr>
        <p:txBody>
          <a:bodyPr>
            <a:normAutofit fontScale="90000"/>
          </a:bodyPr>
          <a:lstStyle/>
          <a:p>
            <a:r>
              <a:rPr lang="ru-RU" sz="2200" b="1" dirty="0" smtClean="0">
                <a:latin typeface="Times New Roman" pitchFamily="18" charset="0"/>
                <a:cs typeface="Times New Roman" pitchFamily="18" charset="0"/>
              </a:rPr>
              <a:t/>
            </a:r>
            <a:br>
              <a:rPr lang="ru-RU" sz="2200" b="1" dirty="0" smtClean="0">
                <a:latin typeface="Times New Roman" pitchFamily="18" charset="0"/>
                <a:cs typeface="Times New Roman" pitchFamily="18" charset="0"/>
              </a:rPr>
            </a:br>
            <a:r>
              <a:rPr lang="ru-RU" sz="2200" b="1" dirty="0" smtClean="0">
                <a:latin typeface="Times New Roman" pitchFamily="18" charset="0"/>
                <a:cs typeface="Times New Roman" pitchFamily="18" charset="0"/>
              </a:rPr>
              <a:t/>
            </a:r>
            <a:br>
              <a:rPr lang="ru-RU" sz="2200" b="1" dirty="0" smtClean="0">
                <a:latin typeface="Times New Roman" pitchFamily="18" charset="0"/>
                <a:cs typeface="Times New Roman" pitchFamily="18" charset="0"/>
              </a:rPr>
            </a:br>
            <a:r>
              <a:rPr lang="ru-RU" sz="2200" b="1" dirty="0" smtClean="0">
                <a:latin typeface="Times New Roman" pitchFamily="18" charset="0"/>
                <a:cs typeface="Times New Roman" pitchFamily="18" charset="0"/>
              </a:rPr>
              <a:t>ВВЕДЕНИЕ</a:t>
            </a:r>
            <a:r>
              <a:rPr lang="ru-RU" sz="1100" b="1" dirty="0">
                <a:latin typeface="Times New Roman" pitchFamily="18" charset="0"/>
                <a:cs typeface="Times New Roman" pitchFamily="18" charset="0"/>
              </a:rPr>
              <a:t/>
            </a:r>
            <a:br>
              <a:rPr lang="ru-RU" sz="1100" b="1" dirty="0">
                <a:latin typeface="Times New Roman" pitchFamily="18" charset="0"/>
                <a:cs typeface="Times New Roman" pitchFamily="18" charset="0"/>
              </a:rPr>
            </a:br>
            <a:endParaRPr lang="ru-R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9512" y="116632"/>
            <a:ext cx="8784976" cy="4032448"/>
          </a:xfrm>
        </p:spPr>
        <p:txBody>
          <a:bodyPr>
            <a:normAutofit fontScale="62500" lnSpcReduction="20000"/>
          </a:bodyPr>
          <a:lstStyle/>
          <a:p>
            <a:pPr marL="0" indent="0" algn="just">
              <a:spcBef>
                <a:spcPts val="0"/>
              </a:spcBef>
              <a:buNone/>
            </a:pPr>
            <a:r>
              <a:rPr lang="ru-RU" dirty="0">
                <a:latin typeface="Times New Roman" pitchFamily="18" charset="0"/>
                <a:cs typeface="Times New Roman" pitchFamily="18" charset="0"/>
              </a:rPr>
              <a:t>С помощью «Добычи Данных» можно  обработать исходные данные </a:t>
            </a:r>
            <a:r>
              <a:rPr lang="ru-RU" b="1" dirty="0">
                <a:latin typeface="Times New Roman" pitchFamily="18" charset="0"/>
                <a:cs typeface="Times New Roman" pitchFamily="18" charset="0"/>
              </a:rPr>
              <a:t>путем запуска автоматизированного поиска </a:t>
            </a:r>
            <a:r>
              <a:rPr lang="ru-RU" b="1" dirty="0" smtClean="0">
                <a:latin typeface="Times New Roman" pitchFamily="18" charset="0"/>
                <a:cs typeface="Times New Roman" pitchFamily="18" charset="0"/>
              </a:rPr>
              <a:t>закономерностей (видимо имеются в виду автоматизированные нейронные сети и программа </a:t>
            </a:r>
            <a:r>
              <a:rPr lang="ru-RU" dirty="0" smtClean="0">
                <a:latin typeface="Times New Roman" pitchFamily="18" charset="0"/>
                <a:cs typeface="Times New Roman" pitchFamily="18" charset="0"/>
              </a:rPr>
              <a:t>Data</a:t>
            </a:r>
            <a:r>
              <a:rPr lang="en-US" dirty="0" smtClean="0">
                <a:latin typeface="Times New Roman" pitchFamily="18" charset="0"/>
                <a:cs typeface="Times New Roman" pitchFamily="18" charset="0"/>
              </a:rPr>
              <a:t> Miner</a:t>
            </a:r>
            <a:r>
              <a:rPr lang="ru-RU" dirty="0" smtClean="0">
                <a:latin typeface="Times New Roman" pitchFamily="18" charset="0"/>
                <a:cs typeface="Times New Roman" pitchFamily="18" charset="0"/>
              </a:rPr>
              <a:t>. </a:t>
            </a:r>
            <a:r>
              <a:rPr lang="ru-RU" dirty="0">
                <a:latin typeface="Times New Roman" pitchFamily="18" charset="0"/>
                <a:cs typeface="Times New Roman" pitchFamily="18" charset="0"/>
              </a:rPr>
              <a:t>Данные шаблоны чаще всего ищутся среди фрагментов неоднородных многомерных данных. Процесс </a:t>
            </a:r>
            <a:r>
              <a:rPr lang="ru-RU" dirty="0" smtClean="0">
                <a:latin typeface="Times New Roman" pitchFamily="18" charset="0"/>
                <a:cs typeface="Times New Roman" pitchFamily="18" charset="0"/>
              </a:rPr>
              <a:t>Data Mining подразумевает </a:t>
            </a:r>
            <a:r>
              <a:rPr lang="ru-RU" dirty="0">
                <a:latin typeface="Times New Roman" pitchFamily="18" charset="0"/>
                <a:cs typeface="Times New Roman" pitchFamily="18" charset="0"/>
              </a:rPr>
              <a:t>под собой три последовательных этапа выполнения: </a:t>
            </a:r>
            <a:r>
              <a:rPr lang="ru-RU" b="1" dirty="0">
                <a:latin typeface="Times New Roman" pitchFamily="18" charset="0"/>
                <a:cs typeface="Times New Roman" pitchFamily="18" charset="0"/>
              </a:rPr>
              <a:t>исследование данных, построение модели и ее  проверку</a:t>
            </a:r>
            <a:r>
              <a:rPr lang="ru-RU" dirty="0">
                <a:latin typeface="Times New Roman" pitchFamily="18" charset="0"/>
                <a:cs typeface="Times New Roman" pitchFamily="18" charset="0"/>
              </a:rPr>
              <a:t>. В Data Mining гипотезы формулируются без участия человека, </a:t>
            </a:r>
            <a:r>
              <a:rPr lang="ru-RU" dirty="0" smtClean="0">
                <a:latin typeface="Times New Roman" pitchFamily="18" charset="0"/>
                <a:cs typeface="Times New Roman" pitchFamily="18" charset="0"/>
              </a:rPr>
              <a:t>чего </a:t>
            </a:r>
            <a:r>
              <a:rPr lang="ru-RU" dirty="0">
                <a:latin typeface="Times New Roman" pitchFamily="18" charset="0"/>
                <a:cs typeface="Times New Roman" pitchFamily="18" charset="0"/>
              </a:rPr>
              <a:t>не скажешь о </a:t>
            </a:r>
            <a:r>
              <a:rPr lang="ru-RU" dirty="0" smtClean="0">
                <a:latin typeface="Times New Roman" pitchFamily="18" charset="0"/>
                <a:cs typeface="Times New Roman" pitchFamily="18" charset="0"/>
              </a:rPr>
              <a:t>традиционных статистических методов </a:t>
            </a:r>
            <a:r>
              <a:rPr lang="ru-RU" dirty="0">
                <a:latin typeface="Times New Roman" pitchFamily="18" charset="0"/>
                <a:cs typeface="Times New Roman" pitchFamily="18" charset="0"/>
              </a:rPr>
              <a:t>и средства для сбора, хранения и анализа многомерных данных в целях поддержки процессов принятия решений </a:t>
            </a:r>
            <a:r>
              <a:rPr lang="ru-RU" dirty="0" smtClean="0">
                <a:latin typeface="Times New Roman" pitchFamily="18" charset="0"/>
                <a:cs typeface="Times New Roman" pitchFamily="18" charset="0"/>
              </a:rPr>
              <a:t>[3]. </a:t>
            </a:r>
            <a:r>
              <a:rPr lang="ru-RU" dirty="0">
                <a:latin typeface="Times New Roman" pitchFamily="18" charset="0"/>
                <a:cs typeface="Times New Roman" pitchFamily="18" charset="0"/>
              </a:rPr>
              <a:t>Поэтому, классической математической статистике главным образом свойственна проверка </a:t>
            </a:r>
            <a:r>
              <a:rPr lang="ru-RU" b="1" dirty="0">
                <a:latin typeface="Times New Roman" pitchFamily="18" charset="0"/>
                <a:cs typeface="Times New Roman" pitchFamily="18" charset="0"/>
              </a:rPr>
              <a:t>заранее сформулированных </a:t>
            </a:r>
            <a:r>
              <a:rPr lang="ru-RU" dirty="0">
                <a:latin typeface="Times New Roman" pitchFamily="18" charset="0"/>
                <a:cs typeface="Times New Roman" pitchFamily="18" charset="0"/>
              </a:rPr>
              <a:t>исследователем </a:t>
            </a:r>
            <a:r>
              <a:rPr lang="ru-RU" dirty="0" smtClean="0">
                <a:latin typeface="Times New Roman" pitchFamily="18" charset="0"/>
                <a:cs typeface="Times New Roman" pitchFamily="18" charset="0"/>
              </a:rPr>
              <a:t>гипотез (равенства средних, дисперсий, соответствие нормальному закону и т.д.). </a:t>
            </a:r>
            <a:r>
              <a:rPr lang="ru-RU" dirty="0">
                <a:latin typeface="Times New Roman" pitchFamily="18" charset="0"/>
                <a:cs typeface="Times New Roman" pitchFamily="18" charset="0"/>
              </a:rPr>
              <a:t>В то время как само формулирование гипотезы иногда бывает достаточно сложной и трудоемкой задачей. Ниже приведены </a:t>
            </a:r>
            <a:r>
              <a:rPr lang="ru-RU" dirty="0">
                <a:solidFill>
                  <a:srgbClr val="FF0000"/>
                </a:solidFill>
                <a:latin typeface="Times New Roman" pitchFamily="18" charset="0"/>
                <a:cs typeface="Times New Roman" pitchFamily="18" charset="0"/>
              </a:rPr>
              <a:t>примеры формулировок </a:t>
            </a:r>
            <a:r>
              <a:rPr lang="ru-RU" dirty="0">
                <a:latin typeface="Times New Roman" pitchFamily="18" charset="0"/>
                <a:cs typeface="Times New Roman" pitchFamily="18" charset="0"/>
              </a:rPr>
              <a:t>задач при использовании методов </a:t>
            </a:r>
            <a:r>
              <a:rPr lang="ru-RU" dirty="0" smtClean="0">
                <a:latin typeface="Times New Roman" pitchFamily="18" charset="0"/>
                <a:cs typeface="Times New Roman" pitchFamily="18" charset="0"/>
              </a:rPr>
              <a:t>прикладной статистики </a:t>
            </a:r>
            <a:r>
              <a:rPr lang="ru-RU" dirty="0">
                <a:latin typeface="Times New Roman" pitchFamily="18" charset="0"/>
                <a:cs typeface="Times New Roman" pitchFamily="18" charset="0"/>
              </a:rPr>
              <a:t>и Data Mining [1].</a:t>
            </a:r>
          </a:p>
          <a:p>
            <a:pPr>
              <a:buNone/>
            </a:pPr>
            <a:endParaRPr lang="ru-RU" dirty="0"/>
          </a:p>
        </p:txBody>
      </p:sp>
      <p:pic>
        <p:nvPicPr>
          <p:cNvPr id="1026" name="Picture 2"/>
          <p:cNvPicPr>
            <a:picLocks noChangeAspect="1" noChangeArrowheads="1"/>
          </p:cNvPicPr>
          <p:nvPr/>
        </p:nvPicPr>
        <p:blipFill>
          <a:blip r:embed="rId2" cstate="print"/>
          <a:srcRect/>
          <a:stretch>
            <a:fillRect/>
          </a:stretch>
        </p:blipFill>
        <p:spPr bwMode="auto">
          <a:xfrm>
            <a:off x="899592" y="4149080"/>
            <a:ext cx="7378590" cy="2573397"/>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9512" y="0"/>
            <a:ext cx="8784976" cy="6858000"/>
          </a:xfrm>
        </p:spPr>
        <p:txBody>
          <a:bodyPr>
            <a:normAutofit fontScale="55000" lnSpcReduction="20000"/>
          </a:bodyPr>
          <a:lstStyle/>
          <a:p>
            <a:pPr marL="0" indent="0" algn="just">
              <a:spcBef>
                <a:spcPts val="0"/>
              </a:spcBef>
              <a:buNone/>
            </a:pPr>
            <a:r>
              <a:rPr lang="ru-RU" dirty="0" smtClean="0">
                <a:latin typeface="Times New Roman" pitchFamily="18" charset="0"/>
                <a:cs typeface="Times New Roman" pitchFamily="18" charset="0"/>
              </a:rPr>
              <a:t>    Data </a:t>
            </a:r>
            <a:r>
              <a:rPr lang="ru-RU" dirty="0">
                <a:latin typeface="Times New Roman" pitchFamily="18" charset="0"/>
                <a:cs typeface="Times New Roman" pitchFamily="18" charset="0"/>
              </a:rPr>
              <a:t>Mining – это не один, а как уже ранее было отмечено, совокупность различных методов обнаружения знаний, например </a:t>
            </a:r>
            <a:r>
              <a:rPr lang="ru-RU" b="1" dirty="0">
                <a:latin typeface="Times New Roman" pitchFamily="18" charset="0"/>
                <a:cs typeface="Times New Roman" pitchFamily="18" charset="0"/>
              </a:rPr>
              <a:t>классификация</a:t>
            </a:r>
            <a:r>
              <a:rPr lang="ru-RU" dirty="0">
                <a:latin typeface="Times New Roman" pitchFamily="18" charset="0"/>
                <a:cs typeface="Times New Roman" pitchFamily="18" charset="0"/>
              </a:rPr>
              <a:t>, </a:t>
            </a:r>
            <a:r>
              <a:rPr lang="ru-RU" b="1" dirty="0">
                <a:latin typeface="Times New Roman" pitchFamily="18" charset="0"/>
                <a:cs typeface="Times New Roman" pitchFamily="18" charset="0"/>
              </a:rPr>
              <a:t>кластеризация</a:t>
            </a:r>
            <a:r>
              <a:rPr lang="ru-RU" dirty="0">
                <a:latin typeface="Times New Roman" pitchFamily="18" charset="0"/>
                <a:cs typeface="Times New Roman" pitchFamily="18" charset="0"/>
              </a:rPr>
              <a:t>, </a:t>
            </a:r>
            <a:r>
              <a:rPr lang="ru-RU" b="1" dirty="0">
                <a:latin typeface="Times New Roman" pitchFamily="18" charset="0"/>
                <a:cs typeface="Times New Roman" pitchFamily="18" charset="0"/>
              </a:rPr>
              <a:t>анализ временных рядов и </a:t>
            </a:r>
            <a:r>
              <a:rPr lang="ru-RU" b="1" dirty="0" smtClean="0">
                <a:latin typeface="Times New Roman" pitchFamily="18" charset="0"/>
                <a:cs typeface="Times New Roman" pitchFamily="18" charset="0"/>
              </a:rPr>
              <a:t>прогнозирование </a:t>
            </a:r>
            <a:r>
              <a:rPr lang="ru-RU" dirty="0">
                <a:latin typeface="Times New Roman" pitchFamily="18" charset="0"/>
                <a:cs typeface="Times New Roman" pitchFamily="18" charset="0"/>
              </a:rPr>
              <a:t>и т. д. Выбор метода часто зависит от типа имеющихся данных и от того какую задачу вы планируете решить и какую информацию желаете получить. Важное положение Data Mining в том, что </a:t>
            </a:r>
            <a:r>
              <a:rPr lang="ru-RU" dirty="0" smtClean="0">
                <a:latin typeface="Times New Roman" pitchFamily="18" charset="0"/>
                <a:cs typeface="Times New Roman" pitchFamily="18" charset="0"/>
              </a:rPr>
              <a:t>построенные модели </a:t>
            </a:r>
            <a:r>
              <a:rPr lang="ru-RU" dirty="0">
                <a:latin typeface="Times New Roman" pitchFamily="18" charset="0"/>
                <a:cs typeface="Times New Roman" pitchFamily="18" charset="0"/>
              </a:rPr>
              <a:t>должны отражать новые, ранее неизвестные свойства в данных, так называемые </a:t>
            </a:r>
            <a:r>
              <a:rPr lang="ru-RU" b="1" dirty="0">
                <a:solidFill>
                  <a:srgbClr val="FF0000"/>
                </a:solidFill>
                <a:latin typeface="Times New Roman" pitchFamily="18" charset="0"/>
                <a:cs typeface="Times New Roman" pitchFamily="18" charset="0"/>
              </a:rPr>
              <a:t>скрытые </a:t>
            </a:r>
            <a:r>
              <a:rPr lang="ru-RU" b="1" dirty="0" smtClean="0">
                <a:solidFill>
                  <a:srgbClr val="FF0000"/>
                </a:solidFill>
                <a:latin typeface="Times New Roman" pitchFamily="18" charset="0"/>
                <a:cs typeface="Times New Roman" pitchFamily="18" charset="0"/>
              </a:rPr>
              <a:t>знания</a:t>
            </a:r>
            <a:r>
              <a:rPr lang="ru-RU" dirty="0" smtClean="0">
                <a:latin typeface="Times New Roman" pitchFamily="18" charset="0"/>
                <a:cs typeface="Times New Roman" pitchFamily="18" charset="0"/>
              </a:rPr>
              <a:t>, </a:t>
            </a:r>
            <a:r>
              <a:rPr lang="ru-RU" dirty="0">
                <a:latin typeface="Times New Roman" pitchFamily="18" charset="0"/>
                <a:cs typeface="Times New Roman" pitchFamily="18" charset="0"/>
              </a:rPr>
              <a:t>которые могут быть использованы для принятия эффективных управленческих решений независимо от области их применения.  </a:t>
            </a:r>
          </a:p>
          <a:p>
            <a:pPr marL="0" indent="0" algn="just">
              <a:spcBef>
                <a:spcPts val="0"/>
              </a:spcBef>
              <a:buNone/>
            </a:pPr>
            <a:r>
              <a:rPr lang="ru-RU" dirty="0" smtClean="0">
                <a:latin typeface="Times New Roman" pitchFamily="18" charset="0"/>
                <a:cs typeface="Times New Roman" pitchFamily="18" charset="0"/>
              </a:rPr>
              <a:t>    Информация</a:t>
            </a:r>
            <a:r>
              <a:rPr lang="ru-RU" dirty="0">
                <a:latin typeface="Times New Roman" pitchFamily="18" charset="0"/>
                <a:cs typeface="Times New Roman" pitchFamily="18" charset="0"/>
              </a:rPr>
              <a:t>, которую можно извлечь при анализе данных, представляет собою выявленные новые закономерности, т.е., как было ранее замечено, новые знания об анализируемом объекте. Затраченные усилия на открытие знаний, которые уже известны пользователю, не окупаются. </a:t>
            </a:r>
            <a:r>
              <a:rPr lang="ru-RU" dirty="0" smtClean="0">
                <a:latin typeface="Times New Roman" pitchFamily="18" charset="0"/>
                <a:cs typeface="Times New Roman" pitchFamily="18" charset="0"/>
              </a:rPr>
              <a:t>Здесь может идти речь о </a:t>
            </a:r>
            <a:r>
              <a:rPr lang="ru-RU" b="1" dirty="0" smtClean="0">
                <a:latin typeface="Times New Roman" pitchFamily="18" charset="0"/>
                <a:cs typeface="Times New Roman" pitchFamily="18" charset="0"/>
              </a:rPr>
              <a:t>подтверждении</a:t>
            </a:r>
            <a:r>
              <a:rPr lang="ru-RU" dirty="0" smtClean="0">
                <a:latin typeface="Times New Roman" pitchFamily="18" charset="0"/>
                <a:cs typeface="Times New Roman" pitchFamily="18" charset="0"/>
              </a:rPr>
              <a:t>, или </a:t>
            </a:r>
            <a:r>
              <a:rPr lang="ru-RU" b="1" dirty="0" smtClean="0">
                <a:latin typeface="Times New Roman" pitchFamily="18" charset="0"/>
                <a:cs typeface="Times New Roman" pitchFamily="18" charset="0"/>
              </a:rPr>
              <a:t>опровержении</a:t>
            </a:r>
            <a:r>
              <a:rPr lang="ru-RU" dirty="0" smtClean="0">
                <a:latin typeface="Times New Roman" pitchFamily="18" charset="0"/>
                <a:cs typeface="Times New Roman" pitchFamily="18" charset="0"/>
              </a:rPr>
              <a:t> ранее известных знаний. Поэтому </a:t>
            </a:r>
            <a:r>
              <a:rPr lang="ru-RU" dirty="0">
                <a:solidFill>
                  <a:srgbClr val="FF0000"/>
                </a:solidFill>
                <a:latin typeface="Times New Roman" pitchFamily="18" charset="0"/>
                <a:cs typeface="Times New Roman" pitchFamily="18" charset="0"/>
              </a:rPr>
              <a:t>ценность представляют именно </a:t>
            </a:r>
            <a:r>
              <a:rPr lang="ru-RU" b="1" dirty="0">
                <a:solidFill>
                  <a:srgbClr val="FF0000"/>
                </a:solidFill>
                <a:latin typeface="Times New Roman" pitchFamily="18" charset="0"/>
                <a:cs typeface="Times New Roman" pitchFamily="18" charset="0"/>
              </a:rPr>
              <a:t>новые, ранее неизвестные знания.</a:t>
            </a:r>
          </a:p>
          <a:p>
            <a:pPr marL="0" indent="0" algn="just">
              <a:spcBef>
                <a:spcPts val="0"/>
              </a:spcBef>
              <a:buNone/>
            </a:pPr>
            <a:r>
              <a:rPr lang="ru-RU" dirty="0" smtClean="0">
                <a:latin typeface="Times New Roman" pitchFamily="18" charset="0"/>
                <a:cs typeface="Times New Roman" pitchFamily="18" charset="0"/>
              </a:rPr>
              <a:t>    Знания </a:t>
            </a:r>
            <a:r>
              <a:rPr lang="ru-RU" dirty="0">
                <a:latin typeface="Times New Roman" pitchFamily="18" charset="0"/>
                <a:cs typeface="Times New Roman" pitchFamily="18" charset="0"/>
              </a:rPr>
              <a:t>также должны быть </a:t>
            </a:r>
            <a:r>
              <a:rPr lang="ru-RU" dirty="0" smtClean="0">
                <a:solidFill>
                  <a:srgbClr val="FF0000"/>
                </a:solidFill>
                <a:latin typeface="Times New Roman" pitchFamily="18" charset="0"/>
                <a:cs typeface="Times New Roman" pitchFamily="18" charset="0"/>
              </a:rPr>
              <a:t>нетривиальны</a:t>
            </a:r>
            <a:r>
              <a:rPr lang="ru-RU" dirty="0" smtClean="0">
                <a:latin typeface="Times New Roman" pitchFamily="18" charset="0"/>
                <a:cs typeface="Times New Roman" pitchFamily="18" charset="0"/>
              </a:rPr>
              <a:t>, т.е. должны </a:t>
            </a:r>
            <a:r>
              <a:rPr lang="ru-RU" dirty="0">
                <a:latin typeface="Times New Roman" pitchFamily="18" charset="0"/>
                <a:cs typeface="Times New Roman" pitchFamily="18" charset="0"/>
              </a:rPr>
              <a:t>отражать неочевидные, неожиданные закономерности в данных, составляющие, так называемые скрытые знания. Результаты, которые могли бы быть получены более простыми способами, например, средствами визуализации, не оправдывают привлечение мощных методов Data Mining.</a:t>
            </a:r>
          </a:p>
          <a:p>
            <a:pPr marL="0" indent="0" algn="just">
              <a:spcBef>
                <a:spcPts val="0"/>
              </a:spcBef>
              <a:buNone/>
            </a:pPr>
            <a:r>
              <a:rPr lang="ru-RU" dirty="0" smtClean="0">
                <a:latin typeface="Times New Roman" pitchFamily="18" charset="0"/>
                <a:cs typeface="Times New Roman" pitchFamily="18" charset="0"/>
              </a:rPr>
              <a:t>    Знания </a:t>
            </a:r>
            <a:r>
              <a:rPr lang="ru-RU" dirty="0">
                <a:latin typeface="Times New Roman" pitchFamily="18" charset="0"/>
                <a:cs typeface="Times New Roman" pitchFamily="18" charset="0"/>
              </a:rPr>
              <a:t>должны быть </a:t>
            </a:r>
            <a:r>
              <a:rPr lang="ru-RU" dirty="0">
                <a:solidFill>
                  <a:srgbClr val="FF0000"/>
                </a:solidFill>
                <a:latin typeface="Times New Roman" pitchFamily="18" charset="0"/>
                <a:cs typeface="Times New Roman" pitchFamily="18" charset="0"/>
              </a:rPr>
              <a:t>практически полезны</a:t>
            </a:r>
            <a:r>
              <a:rPr lang="ru-RU" dirty="0">
                <a:latin typeface="Times New Roman" pitchFamily="18" charset="0"/>
                <a:cs typeface="Times New Roman" pitchFamily="18" charset="0"/>
              </a:rPr>
              <a:t>, применимы, в том числе и на новых данных, с достаточно высокой степенью достоверности. Полезность заключается в том, чтобы эти знания могли принести определенную выгоду при их применении</a:t>
            </a:r>
            <a:r>
              <a:rPr lang="ru-RU" dirty="0" smtClean="0">
                <a:latin typeface="Times New Roman" pitchFamily="18" charset="0"/>
                <a:cs typeface="Times New Roman" pitchFamily="18" charset="0"/>
              </a:rPr>
              <a:t>.</a:t>
            </a:r>
            <a:r>
              <a:rPr lang="ru-RU" dirty="0"/>
              <a:t> </a:t>
            </a:r>
            <a:r>
              <a:rPr lang="ru-RU" dirty="0" smtClean="0"/>
              <a:t>   </a:t>
            </a:r>
          </a:p>
          <a:p>
            <a:pPr marL="0" indent="0" algn="just">
              <a:spcBef>
                <a:spcPts val="0"/>
              </a:spcBef>
              <a:buNone/>
            </a:pPr>
            <a:r>
              <a:rPr lang="ru-RU" dirty="0">
                <a:latin typeface="Times New Roman" pitchFamily="18" charset="0"/>
                <a:cs typeface="Times New Roman" pitchFamily="18" charset="0"/>
              </a:rPr>
              <a:t> </a:t>
            </a:r>
            <a:r>
              <a:rPr lang="ru-RU" dirty="0" smtClean="0">
                <a:latin typeface="Times New Roman" pitchFamily="18" charset="0"/>
                <a:cs typeface="Times New Roman" pitchFamily="18" charset="0"/>
              </a:rPr>
              <a:t>   </a:t>
            </a:r>
            <a:r>
              <a:rPr lang="ru-RU" b="1" dirty="0" smtClean="0">
                <a:latin typeface="Times New Roman" pitchFamily="18" charset="0"/>
                <a:cs typeface="Times New Roman" pitchFamily="18" charset="0"/>
              </a:rPr>
              <a:t>Найденные </a:t>
            </a:r>
            <a:r>
              <a:rPr lang="ru-RU" b="1" dirty="0">
                <a:latin typeface="Times New Roman" pitchFamily="18" charset="0"/>
                <a:cs typeface="Times New Roman" pitchFamily="18" charset="0"/>
              </a:rPr>
              <a:t>закономерности должны быть </a:t>
            </a:r>
            <a:r>
              <a:rPr lang="ru-RU" b="1" dirty="0">
                <a:solidFill>
                  <a:srgbClr val="FF0000"/>
                </a:solidFill>
                <a:latin typeface="Times New Roman" pitchFamily="18" charset="0"/>
                <a:cs typeface="Times New Roman" pitchFamily="18" charset="0"/>
              </a:rPr>
              <a:t>логически объяснимы</a:t>
            </a:r>
            <a:r>
              <a:rPr lang="ru-RU" b="1" dirty="0">
                <a:latin typeface="Times New Roman" pitchFamily="18" charset="0"/>
                <a:cs typeface="Times New Roman" pitchFamily="18" charset="0"/>
              </a:rPr>
              <a:t>, в противном случае существует вероятность, что они являются случайными</a:t>
            </a:r>
            <a:r>
              <a:rPr lang="ru-RU" dirty="0">
                <a:latin typeface="Times New Roman" pitchFamily="18" charset="0"/>
                <a:cs typeface="Times New Roman" pitchFamily="18" charset="0"/>
              </a:rPr>
              <a:t>. Иногда не удается сразу объяснить природу полученных знаний, требуется время, чтобы научные достижения нашли им объяснение. Например, изначально посредством статистических данных было замечено влиянии лунных фаз и солнечных магнитных бурь на   состояние живых организмов на Земле. Но лишь по происшествие определенного времени было дано научное объяснение указанным феноменам.  </a:t>
            </a:r>
          </a:p>
          <a:p>
            <a:pPr marL="0" indent="0" algn="just">
              <a:spcBef>
                <a:spcPts val="0"/>
              </a:spcBef>
              <a:buNone/>
            </a:pPr>
            <a:endParaRPr lang="ru-RU" dirty="0">
              <a:latin typeface="Times New Roman" pitchFamily="18" charset="0"/>
              <a:cs typeface="Times New Roman" pitchFamily="18" charset="0"/>
            </a:endParaRPr>
          </a:p>
          <a:p>
            <a:pPr>
              <a:buNone/>
            </a:pPr>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0"/>
            <a:ext cx="9144000" cy="6858000"/>
          </a:xfrm>
        </p:spPr>
        <p:txBody>
          <a:bodyPr>
            <a:noAutofit/>
          </a:bodyPr>
          <a:lstStyle/>
          <a:p>
            <a:pPr marL="0" indent="0" algn="just">
              <a:spcBef>
                <a:spcPts val="0"/>
              </a:spcBef>
              <a:buNone/>
            </a:pPr>
            <a:r>
              <a:rPr lang="ru-RU" sz="1600" dirty="0" smtClean="0">
                <a:latin typeface="Times New Roman" pitchFamily="18" charset="0"/>
                <a:cs typeface="Times New Roman" pitchFamily="18" charset="0"/>
              </a:rPr>
              <a:t>    </a:t>
            </a:r>
            <a:r>
              <a:rPr lang="ru-RU" sz="1800" dirty="0" smtClean="0">
                <a:latin typeface="Times New Roman" pitchFamily="18" charset="0"/>
                <a:cs typeface="Times New Roman" pitchFamily="18" charset="0"/>
              </a:rPr>
              <a:t>Знания </a:t>
            </a:r>
            <a:r>
              <a:rPr lang="ru-RU" sz="1800" dirty="0">
                <a:latin typeface="Times New Roman" pitchFamily="18" charset="0"/>
                <a:cs typeface="Times New Roman" pitchFamily="18" charset="0"/>
              </a:rPr>
              <a:t>должны быть </a:t>
            </a:r>
            <a:r>
              <a:rPr lang="ru-RU" sz="1800" dirty="0">
                <a:solidFill>
                  <a:srgbClr val="FF0000"/>
                </a:solidFill>
                <a:latin typeface="Times New Roman" pitchFamily="18" charset="0"/>
                <a:cs typeface="Times New Roman" pitchFamily="18" charset="0"/>
              </a:rPr>
              <a:t>интерпретируемы</a:t>
            </a:r>
            <a:r>
              <a:rPr lang="ru-RU" sz="1800" dirty="0">
                <a:latin typeface="Times New Roman" pitchFamily="18" charset="0"/>
                <a:cs typeface="Times New Roman" pitchFamily="18" charset="0"/>
              </a:rPr>
              <a:t>, т.е., доступны для понимания человеку и представлены в понятном для него виде. В Data Mining для представления полученных знаний служат модели и графические возможности визуализации. </a:t>
            </a:r>
            <a:r>
              <a:rPr lang="ru-RU" sz="1800" dirty="0" smtClean="0">
                <a:latin typeface="Times New Roman" pitchFamily="18" charset="0"/>
                <a:cs typeface="Times New Roman" pitchFamily="18" charset="0"/>
              </a:rPr>
              <a:t>Наиболее </a:t>
            </a:r>
            <a:r>
              <a:rPr lang="ru-RU" sz="1800" dirty="0">
                <a:latin typeface="Times New Roman" pitchFamily="18" charset="0"/>
                <a:cs typeface="Times New Roman" pitchFamily="18" charset="0"/>
              </a:rPr>
              <a:t>распространенными </a:t>
            </a:r>
            <a:r>
              <a:rPr lang="ru-RU" sz="1800" dirty="0" smtClean="0">
                <a:latin typeface="Times New Roman" pitchFamily="18" charset="0"/>
                <a:cs typeface="Times New Roman" pitchFamily="18" charset="0"/>
              </a:rPr>
              <a:t>моделями являются</a:t>
            </a:r>
            <a:r>
              <a:rPr lang="ru-RU" sz="1800" dirty="0">
                <a:latin typeface="Times New Roman" pitchFamily="18" charset="0"/>
                <a:cs typeface="Times New Roman" pitchFamily="18" charset="0"/>
              </a:rPr>
              <a:t>: </a:t>
            </a:r>
            <a:r>
              <a:rPr lang="ru-RU" sz="1800" b="1" dirty="0">
                <a:latin typeface="Times New Roman" pitchFamily="18" charset="0"/>
                <a:cs typeface="Times New Roman" pitchFamily="18" charset="0"/>
              </a:rPr>
              <a:t>правила, или алгоритмы, деревья решений, кластеры и математические соотношения</a:t>
            </a:r>
            <a:r>
              <a:rPr lang="ru-RU" sz="1800" dirty="0">
                <a:latin typeface="Times New Roman" pitchFamily="18" charset="0"/>
                <a:cs typeface="Times New Roman" pitchFamily="18" charset="0"/>
              </a:rPr>
              <a:t>.</a:t>
            </a:r>
          </a:p>
          <a:p>
            <a:pPr marL="0" indent="0" algn="just">
              <a:spcBef>
                <a:spcPts val="0"/>
              </a:spcBef>
              <a:buNone/>
            </a:pPr>
            <a:r>
              <a:rPr lang="ru-RU" sz="1800" dirty="0" smtClean="0">
                <a:latin typeface="Times New Roman" pitchFamily="18" charset="0"/>
                <a:cs typeface="Times New Roman" pitchFamily="18" charset="0"/>
              </a:rPr>
              <a:t>    Различают </a:t>
            </a:r>
            <a:r>
              <a:rPr lang="ru-RU" sz="1800" b="1" dirty="0" smtClean="0">
                <a:latin typeface="Times New Roman" pitchFamily="18" charset="0"/>
                <a:cs typeface="Times New Roman" pitchFamily="18" charset="0"/>
              </a:rPr>
              <a:t>шесть</a:t>
            </a:r>
            <a:r>
              <a:rPr lang="ru-RU" sz="1800" dirty="0" smtClean="0">
                <a:latin typeface="Times New Roman" pitchFamily="18" charset="0"/>
                <a:cs typeface="Times New Roman" pitchFamily="18" charset="0"/>
              </a:rPr>
              <a:t> </a:t>
            </a:r>
            <a:r>
              <a:rPr lang="ru-RU" sz="1800" dirty="0">
                <a:latin typeface="Times New Roman" pitchFamily="18" charset="0"/>
                <a:cs typeface="Times New Roman" pitchFamily="18" charset="0"/>
              </a:rPr>
              <a:t>стандартных типов </a:t>
            </a:r>
            <a:r>
              <a:rPr lang="ru-RU" sz="1800" dirty="0" smtClean="0">
                <a:latin typeface="Times New Roman" pitchFamily="18" charset="0"/>
                <a:cs typeface="Times New Roman" pitchFamily="18" charset="0"/>
              </a:rPr>
              <a:t>знаний (закономерностей), </a:t>
            </a:r>
            <a:r>
              <a:rPr lang="ru-RU" sz="1800" dirty="0">
                <a:latin typeface="Times New Roman" pitchFamily="18" charset="0"/>
                <a:cs typeface="Times New Roman" pitchFamily="18" charset="0"/>
              </a:rPr>
              <a:t>которые позволяют выявлять методы Data Mining: </a:t>
            </a:r>
            <a:r>
              <a:rPr lang="ru-RU" sz="1800" b="1" dirty="0">
                <a:latin typeface="Times New Roman" pitchFamily="18" charset="0"/>
                <a:cs typeface="Times New Roman" pitchFamily="18" charset="0"/>
              </a:rPr>
              <a:t>ассоциация, последовательность, </a:t>
            </a:r>
            <a:r>
              <a:rPr lang="ru-RU" sz="1800" b="1" dirty="0">
                <a:solidFill>
                  <a:srgbClr val="FF0000"/>
                </a:solidFill>
                <a:latin typeface="Times New Roman" pitchFamily="18" charset="0"/>
                <a:cs typeface="Times New Roman" pitchFamily="18" charset="0"/>
              </a:rPr>
              <a:t>классификация</a:t>
            </a:r>
            <a:r>
              <a:rPr lang="ru-RU" sz="1800" b="1" dirty="0">
                <a:latin typeface="Times New Roman" pitchFamily="18" charset="0"/>
                <a:cs typeface="Times New Roman" pitchFamily="18" charset="0"/>
              </a:rPr>
              <a:t>, </a:t>
            </a:r>
            <a:r>
              <a:rPr lang="ru-RU" sz="1800" b="1" dirty="0" smtClean="0">
                <a:solidFill>
                  <a:srgbClr val="FF0000"/>
                </a:solidFill>
                <a:latin typeface="Times New Roman" pitchFamily="18" charset="0"/>
                <a:cs typeface="Times New Roman" pitchFamily="18" charset="0"/>
              </a:rPr>
              <a:t>кластеризация</a:t>
            </a:r>
            <a:r>
              <a:rPr lang="ru-RU" sz="1800" b="1" dirty="0" smtClean="0">
                <a:latin typeface="Times New Roman" pitchFamily="18" charset="0"/>
                <a:cs typeface="Times New Roman" pitchFamily="18" charset="0"/>
              </a:rPr>
              <a:t>, </a:t>
            </a:r>
            <a:r>
              <a:rPr lang="ru-RU" sz="1800" b="1" dirty="0" smtClean="0">
                <a:solidFill>
                  <a:srgbClr val="FF0000"/>
                </a:solidFill>
                <a:latin typeface="Times New Roman" pitchFamily="18" charset="0"/>
                <a:cs typeface="Times New Roman" pitchFamily="18" charset="0"/>
              </a:rPr>
              <a:t>прогнозирование и регрессия</a:t>
            </a:r>
            <a:r>
              <a:rPr lang="ru-RU" sz="1800" dirty="0" smtClean="0">
                <a:solidFill>
                  <a:srgbClr val="FF0000"/>
                </a:solidFill>
                <a:latin typeface="Times New Roman" pitchFamily="18" charset="0"/>
                <a:cs typeface="Times New Roman" pitchFamily="18" charset="0"/>
              </a:rPr>
              <a:t> </a:t>
            </a:r>
            <a:r>
              <a:rPr lang="ru-RU" sz="1800" dirty="0" smtClean="0">
                <a:latin typeface="Times New Roman" pitchFamily="18" charset="0"/>
                <a:cs typeface="Times New Roman" pitchFamily="18" charset="0"/>
              </a:rPr>
              <a:t>[2].</a:t>
            </a:r>
            <a:endParaRPr lang="ru-RU" sz="1800" dirty="0">
              <a:latin typeface="Times New Roman" pitchFamily="18" charset="0"/>
              <a:cs typeface="Times New Roman" pitchFamily="18" charset="0"/>
            </a:endParaRPr>
          </a:p>
          <a:p>
            <a:pPr marL="0" indent="0" algn="just">
              <a:spcBef>
                <a:spcPts val="0"/>
              </a:spcBef>
              <a:buNone/>
            </a:pPr>
            <a:r>
              <a:rPr lang="ru-RU" sz="1800" dirty="0" smtClean="0">
                <a:latin typeface="Times New Roman" pitchFamily="18" charset="0"/>
                <a:cs typeface="Times New Roman" pitchFamily="18" charset="0"/>
              </a:rPr>
              <a:t>    </a:t>
            </a:r>
            <a:r>
              <a:rPr lang="ru-RU" sz="1800" b="1" dirty="0" smtClean="0">
                <a:latin typeface="Times New Roman" pitchFamily="18" charset="0"/>
                <a:cs typeface="Times New Roman" pitchFamily="18" charset="0"/>
              </a:rPr>
              <a:t>Ассоциация </a:t>
            </a:r>
            <a:r>
              <a:rPr lang="ru-RU" sz="1800" b="1" dirty="0">
                <a:latin typeface="Times New Roman" pitchFamily="18" charset="0"/>
                <a:cs typeface="Times New Roman" pitchFamily="18" charset="0"/>
              </a:rPr>
              <a:t>имеет место в том случае, если несколько событий связаны друг с другом</a:t>
            </a:r>
            <a:r>
              <a:rPr lang="ru-RU" sz="1800" dirty="0">
                <a:latin typeface="Times New Roman" pitchFamily="18" charset="0"/>
                <a:cs typeface="Times New Roman" pitchFamily="18" charset="0"/>
              </a:rPr>
              <a:t>. Например, исследование, проведенное в супермаркете, может показать, что 65% купивших кукурузные чипсы берут также и "кока-колу", а при наличии скидки за такой комплект "колу" приобретают в 85% случаев. </a:t>
            </a:r>
          </a:p>
          <a:p>
            <a:pPr marL="0" indent="0" algn="just">
              <a:spcBef>
                <a:spcPts val="0"/>
              </a:spcBef>
              <a:buNone/>
            </a:pPr>
            <a:r>
              <a:rPr lang="ru-RU" sz="1800" dirty="0" smtClean="0">
                <a:latin typeface="Times New Roman" pitchFamily="18" charset="0"/>
                <a:cs typeface="Times New Roman" pitchFamily="18" charset="0"/>
              </a:rPr>
              <a:t>    </a:t>
            </a:r>
            <a:r>
              <a:rPr lang="ru-RU" sz="1800" b="1" dirty="0" smtClean="0">
                <a:latin typeface="Times New Roman" pitchFamily="18" charset="0"/>
                <a:cs typeface="Times New Roman" pitchFamily="18" charset="0"/>
              </a:rPr>
              <a:t>Если </a:t>
            </a:r>
            <a:r>
              <a:rPr lang="ru-RU" sz="1800" b="1" dirty="0">
                <a:latin typeface="Times New Roman" pitchFamily="18" charset="0"/>
                <a:cs typeface="Times New Roman" pitchFamily="18" charset="0"/>
              </a:rPr>
              <a:t>существует цепочка связанных во времени событий, то говорят о последовательности</a:t>
            </a:r>
            <a:r>
              <a:rPr lang="ru-RU" sz="1800" dirty="0">
                <a:latin typeface="Times New Roman" pitchFamily="18" charset="0"/>
                <a:cs typeface="Times New Roman" pitchFamily="18" charset="0"/>
              </a:rPr>
              <a:t>. Так, например, после покупки дома в 45% случаев в течение месяца приобретается и новая кухонная плита, а в пределах двух недель 60% новоселов обзаводятся холодильником.</a:t>
            </a:r>
          </a:p>
          <a:p>
            <a:pPr marL="0" indent="0" algn="just">
              <a:spcBef>
                <a:spcPts val="0"/>
              </a:spcBef>
              <a:buNone/>
            </a:pPr>
            <a:r>
              <a:rPr lang="ru-RU" sz="1800" dirty="0" smtClean="0">
                <a:latin typeface="Times New Roman" pitchFamily="18" charset="0"/>
                <a:cs typeface="Times New Roman" pitchFamily="18" charset="0"/>
              </a:rPr>
              <a:t>    С </a:t>
            </a:r>
            <a:r>
              <a:rPr lang="ru-RU" sz="1800" dirty="0">
                <a:latin typeface="Times New Roman" pitchFamily="18" charset="0"/>
                <a:cs typeface="Times New Roman" pitchFamily="18" charset="0"/>
              </a:rPr>
              <a:t>помощью </a:t>
            </a:r>
            <a:r>
              <a:rPr lang="ru-RU" sz="1800" b="1" dirty="0">
                <a:solidFill>
                  <a:srgbClr val="FF0000"/>
                </a:solidFill>
                <a:latin typeface="Times New Roman" pitchFamily="18" charset="0"/>
                <a:cs typeface="Times New Roman" pitchFamily="18" charset="0"/>
              </a:rPr>
              <a:t>классификации</a:t>
            </a:r>
            <a:r>
              <a:rPr lang="ru-RU" sz="1800" dirty="0">
                <a:latin typeface="Times New Roman" pitchFamily="18" charset="0"/>
                <a:cs typeface="Times New Roman" pitchFamily="18" charset="0"/>
              </a:rPr>
              <a:t> выявляются признаки, характеризующие группу, к которой принадлежит тот или иной объект. Это делается посредством анализа уже классифицированных объектов и формулирования некоторого набора правил, позволяющих предсказать принадлежность объектов к той, или иной группе.</a:t>
            </a:r>
          </a:p>
          <a:p>
            <a:pPr marL="0" indent="0" algn="just">
              <a:spcBef>
                <a:spcPts val="0"/>
              </a:spcBef>
              <a:buNone/>
            </a:pPr>
            <a:r>
              <a:rPr lang="ru-RU" sz="1800" b="1" dirty="0" smtClean="0">
                <a:latin typeface="Times New Roman" pitchFamily="18" charset="0"/>
                <a:cs typeface="Times New Roman" pitchFamily="18" charset="0"/>
              </a:rPr>
              <a:t>    </a:t>
            </a:r>
            <a:endParaRPr lang="ru-RU"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97346"/>
            <a:ext cx="8856984" cy="3693319"/>
          </a:xfrm>
          <a:prstGeom prst="rect">
            <a:avLst/>
          </a:prstGeom>
        </p:spPr>
        <p:txBody>
          <a:bodyPr wrap="square">
            <a:spAutoFit/>
          </a:bodyPr>
          <a:lstStyle/>
          <a:p>
            <a:pPr algn="just"/>
            <a:r>
              <a:rPr lang="ru-RU" b="1" dirty="0" smtClean="0">
                <a:latin typeface="Times New Roman" pitchFamily="18" charset="0"/>
                <a:cs typeface="Times New Roman" pitchFamily="18" charset="0"/>
              </a:rPr>
              <a:t>Кластеризация </a:t>
            </a:r>
            <a:r>
              <a:rPr lang="ru-RU" dirty="0" smtClean="0">
                <a:latin typeface="Times New Roman" pitchFamily="18" charset="0"/>
                <a:cs typeface="Times New Roman" pitchFamily="18" charset="0"/>
              </a:rPr>
              <a:t>отличается от классификации тем, что сами однородные группы (кластеры) сходных (похожих) между собою объектов заранее не заданы. С помощью кластеризации средства Data Mining самостоятельно выделяют различные кластеры заданной совокупности данных. </a:t>
            </a:r>
          </a:p>
          <a:p>
            <a:pPr algn="just"/>
            <a:r>
              <a:rPr lang="ru-RU" dirty="0" smtClean="0">
                <a:latin typeface="Times New Roman" pitchFamily="18" charset="0"/>
                <a:cs typeface="Times New Roman" pitchFamily="18" charset="0"/>
              </a:rPr>
              <a:t>    Основой для всевозможных систем </a:t>
            </a:r>
            <a:r>
              <a:rPr lang="ru-RU" b="1" dirty="0" smtClean="0">
                <a:latin typeface="Times New Roman" pitchFamily="18" charset="0"/>
                <a:cs typeface="Times New Roman" pitchFamily="18" charset="0"/>
              </a:rPr>
              <a:t>прогнозирования</a:t>
            </a:r>
            <a:r>
              <a:rPr lang="ru-RU" dirty="0" smtClean="0">
                <a:latin typeface="Times New Roman" pitchFamily="18" charset="0"/>
                <a:cs typeface="Times New Roman" pitchFamily="18" charset="0"/>
              </a:rPr>
              <a:t> служит историческая информация, представленная в виде временных рядов. Если удается найти модели, адекватно отражающие динамику поведения целевых показателей, есть вероятность, что с их помощью можно предсказать и поведение системы в будущем.</a:t>
            </a:r>
          </a:p>
          <a:p>
            <a:pPr algn="just"/>
            <a:r>
              <a:rPr lang="ru-RU" b="1" dirty="0" smtClean="0">
                <a:latin typeface="Times New Roman" pitchFamily="18" charset="0"/>
                <a:cs typeface="Times New Roman" pitchFamily="18" charset="0"/>
              </a:rPr>
              <a:t>Регрессия</a:t>
            </a:r>
            <a:r>
              <a:rPr lang="ru-RU" dirty="0" smtClean="0">
                <a:latin typeface="Times New Roman" pitchFamily="18" charset="0"/>
                <a:cs typeface="Times New Roman" pitchFamily="18" charset="0"/>
              </a:rPr>
              <a:t> – строится по возможности адекватный алгоритм, который по значениям количественных и категориальных предикторов  способен предсказать значений количественной целевой </a:t>
            </a:r>
            <a:r>
              <a:rPr lang="ru-RU" dirty="0" smtClean="0">
                <a:latin typeface="Times New Roman" pitchFamily="18" charset="0"/>
                <a:cs typeface="Times New Roman" pitchFamily="18" charset="0"/>
              </a:rPr>
              <a:t>переменной</a:t>
            </a:r>
          </a:p>
          <a:p>
            <a:pPr algn="just"/>
            <a:endParaRPr lang="ru-RU" dirty="0" smtClean="0">
              <a:latin typeface="Times New Roman" pitchFamily="18" charset="0"/>
              <a:cs typeface="Times New Roman" pitchFamily="18" charset="0"/>
            </a:endParaRPr>
          </a:p>
          <a:p>
            <a:pPr>
              <a:buNone/>
            </a:pPr>
            <a:endParaRPr lang="ru-RU" dirty="0"/>
          </a:p>
        </p:txBody>
      </p:sp>
      <p:sp>
        <p:nvSpPr>
          <p:cNvPr id="5" name="Прямоугольник 4"/>
          <p:cNvSpPr/>
          <p:nvPr/>
        </p:nvSpPr>
        <p:spPr>
          <a:xfrm>
            <a:off x="251520" y="3501008"/>
            <a:ext cx="8712968" cy="2031325"/>
          </a:xfrm>
          <a:prstGeom prst="rect">
            <a:avLst/>
          </a:prstGeom>
        </p:spPr>
        <p:txBody>
          <a:bodyPr wrap="square">
            <a:spAutoFit/>
          </a:bodyPr>
          <a:lstStyle/>
          <a:p>
            <a:pPr algn="just"/>
            <a:r>
              <a:rPr lang="ru-RU" dirty="0" smtClean="0">
                <a:latin typeface="Times New Roman" pitchFamily="18" charset="0"/>
                <a:cs typeface="Times New Roman" pitchFamily="18" charset="0"/>
              </a:rPr>
              <a:t>   Сфера </a:t>
            </a:r>
            <a:r>
              <a:rPr lang="ru-RU" dirty="0" smtClean="0">
                <a:latin typeface="Times New Roman" pitchFamily="18" charset="0"/>
                <a:cs typeface="Times New Roman" pitchFamily="18" charset="0"/>
              </a:rPr>
              <a:t>применения Data Mining ничем не ограничена – Data Mining нужна везде, где имеются какие-либо данные. Опыт многих реализованных проектов показывает, что отдача от использования Data Mining может достигать 1000%. Например, известны сообщения об экономическом эффекте в 10-70 раз превысившем первоначальные затраты от 350 до 750 тыс. дол. Приводятся сведения о проекте в 20 млн. дол., который окупился всего за 4 месяца. Другой пример – годовая экономия 700 тыс. дол. за счет внедрения Data Mining в сети универсамов в Великобритании</a:t>
            </a:r>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9512" y="0"/>
            <a:ext cx="8784976" cy="6669360"/>
          </a:xfrm>
        </p:spPr>
        <p:txBody>
          <a:bodyPr>
            <a:normAutofit fontScale="62500" lnSpcReduction="20000"/>
          </a:bodyPr>
          <a:lstStyle/>
          <a:p>
            <a:pPr marL="0" indent="0" algn="just">
              <a:spcBef>
                <a:spcPts val="0"/>
              </a:spcBef>
              <a:buNone/>
            </a:pPr>
            <a:r>
              <a:rPr lang="ru-RU" dirty="0" smtClean="0">
                <a:latin typeface="Times New Roman" pitchFamily="18" charset="0"/>
                <a:cs typeface="Times New Roman" pitchFamily="18" charset="0"/>
              </a:rPr>
              <a:t>. </a:t>
            </a:r>
            <a:endParaRPr lang="ru-RU" dirty="0" smtClean="0">
              <a:latin typeface="Times New Roman" pitchFamily="18" charset="0"/>
              <a:cs typeface="Times New Roman" pitchFamily="18" charset="0"/>
            </a:endParaRPr>
          </a:p>
          <a:p>
            <a:pPr marL="0" indent="0" algn="just">
              <a:spcBef>
                <a:spcPts val="0"/>
              </a:spcBef>
              <a:buNone/>
            </a:pPr>
            <a:r>
              <a:rPr lang="ru-RU" dirty="0" smtClean="0">
                <a:latin typeface="Times New Roman" pitchFamily="18" charset="0"/>
                <a:cs typeface="Times New Roman" pitchFamily="18" charset="0"/>
              </a:rPr>
              <a:t>     Data </a:t>
            </a:r>
            <a:r>
              <a:rPr lang="ru-RU" dirty="0">
                <a:latin typeface="Times New Roman" pitchFamily="18" charset="0"/>
                <a:cs typeface="Times New Roman" pitchFamily="18" charset="0"/>
              </a:rPr>
              <a:t>Mining представляют большую ценность для руководителей и аналитиков в их повседневной деятельности. Представители бизнеса и государственных структур осознали, что с помощью методов Data Mining они могут получить ощутимые преимущества в конкурентной борьбе </a:t>
            </a:r>
            <a:r>
              <a:rPr lang="ru-RU" dirty="0" smtClean="0">
                <a:latin typeface="Times New Roman" pitchFamily="18" charset="0"/>
                <a:cs typeface="Times New Roman" pitchFamily="18" charset="0"/>
              </a:rPr>
              <a:t>[2]. </a:t>
            </a:r>
            <a:endParaRPr lang="ru-RU" dirty="0">
              <a:latin typeface="Times New Roman" pitchFamily="18" charset="0"/>
              <a:cs typeface="Times New Roman" pitchFamily="18" charset="0"/>
            </a:endParaRPr>
          </a:p>
          <a:p>
            <a:pPr marL="0" indent="0" algn="just">
              <a:spcBef>
                <a:spcPts val="0"/>
              </a:spcBef>
              <a:buNone/>
            </a:pPr>
            <a:r>
              <a:rPr lang="ru-RU" dirty="0" smtClean="0">
                <a:latin typeface="Times New Roman" pitchFamily="18" charset="0"/>
                <a:cs typeface="Times New Roman" pitchFamily="18" charset="0"/>
              </a:rPr>
              <a:t>    Технологии </a:t>
            </a:r>
            <a:r>
              <a:rPr lang="ru-RU" dirty="0">
                <a:latin typeface="Times New Roman" pitchFamily="18" charset="0"/>
                <a:cs typeface="Times New Roman" pitchFamily="18" charset="0"/>
              </a:rPr>
              <a:t>Data Mining успешно применяются в </a:t>
            </a:r>
            <a:r>
              <a:rPr lang="ru-RU" b="1" dirty="0">
                <a:latin typeface="Times New Roman" pitchFamily="18" charset="0"/>
                <a:cs typeface="Times New Roman" pitchFamily="18" charset="0"/>
              </a:rPr>
              <a:t>торговле</a:t>
            </a:r>
            <a:r>
              <a:rPr lang="ru-RU" dirty="0">
                <a:latin typeface="Times New Roman" pitchFamily="18" charset="0"/>
                <a:cs typeface="Times New Roman" pitchFamily="18" charset="0"/>
              </a:rPr>
              <a:t> </a:t>
            </a:r>
            <a:r>
              <a:rPr lang="ru-RU" dirty="0" smtClean="0">
                <a:latin typeface="Times New Roman" pitchFamily="18" charset="0"/>
                <a:cs typeface="Times New Roman" pitchFamily="18" charset="0"/>
              </a:rPr>
              <a:t>[2]. </a:t>
            </a:r>
            <a:r>
              <a:rPr lang="ru-RU" dirty="0">
                <a:latin typeface="Times New Roman" pitchFamily="18" charset="0"/>
                <a:cs typeface="Times New Roman" pitchFamily="18" charset="0"/>
              </a:rPr>
              <a:t>Это и анализ покупательской корзины, изучение характера потребностей различных категорий клиентов с определенным поведением, создание товарных запасов. </a:t>
            </a:r>
            <a:endParaRPr lang="ru-RU" dirty="0" smtClean="0">
              <a:latin typeface="Times New Roman" pitchFamily="18" charset="0"/>
              <a:cs typeface="Times New Roman" pitchFamily="18" charset="0"/>
            </a:endParaRPr>
          </a:p>
          <a:p>
            <a:pPr marL="0" indent="0" algn="just">
              <a:spcBef>
                <a:spcPts val="0"/>
              </a:spcBef>
              <a:buNone/>
            </a:pPr>
            <a:r>
              <a:rPr lang="ru-RU" dirty="0">
                <a:latin typeface="Times New Roman" pitchFamily="18" charset="0"/>
                <a:cs typeface="Times New Roman" pitchFamily="18" charset="0"/>
              </a:rPr>
              <a:t> </a:t>
            </a:r>
            <a:r>
              <a:rPr lang="ru-RU" dirty="0" smtClean="0">
                <a:latin typeface="Times New Roman" pitchFamily="18" charset="0"/>
                <a:cs typeface="Times New Roman" pitchFamily="18" charset="0"/>
              </a:rPr>
              <a:t>   Data </a:t>
            </a:r>
            <a:r>
              <a:rPr lang="ru-RU" dirty="0">
                <a:latin typeface="Times New Roman" pitchFamily="18" charset="0"/>
                <a:cs typeface="Times New Roman" pitchFamily="18" charset="0"/>
              </a:rPr>
              <a:t>Mining используют в </a:t>
            </a:r>
            <a:r>
              <a:rPr lang="ru-RU" b="1" dirty="0">
                <a:latin typeface="Times New Roman" pitchFamily="18" charset="0"/>
                <a:cs typeface="Times New Roman" pitchFamily="18" charset="0"/>
              </a:rPr>
              <a:t>банковском деле </a:t>
            </a:r>
            <a:r>
              <a:rPr lang="ru-RU" dirty="0">
                <a:latin typeface="Times New Roman" pitchFamily="18" charset="0"/>
                <a:cs typeface="Times New Roman" pitchFamily="18" charset="0"/>
              </a:rPr>
              <a:t>для решения таких распространенных задач как выявление мошенничества с кредитными карточками,  сегментация клиентов,  прогнозирование изменений клиентуры. Data Mining помогает банкам строить прогнозные модели потенциала своих клиентов, и соответствующим образом обслуживать каждую категорию. </a:t>
            </a:r>
            <a:endParaRPr lang="ru-RU" dirty="0" smtClean="0">
              <a:latin typeface="Times New Roman" pitchFamily="18" charset="0"/>
              <a:cs typeface="Times New Roman" pitchFamily="18" charset="0"/>
            </a:endParaRPr>
          </a:p>
          <a:p>
            <a:pPr marL="0" indent="0" algn="just">
              <a:spcBef>
                <a:spcPts val="0"/>
              </a:spcBef>
              <a:buNone/>
            </a:pPr>
            <a:r>
              <a:rPr lang="ru-RU" dirty="0">
                <a:latin typeface="Times New Roman" pitchFamily="18" charset="0"/>
                <a:cs typeface="Times New Roman" pitchFamily="18" charset="0"/>
              </a:rPr>
              <a:t> </a:t>
            </a:r>
            <a:r>
              <a:rPr lang="ru-RU" dirty="0" smtClean="0">
                <a:latin typeface="Times New Roman" pitchFamily="18" charset="0"/>
                <a:cs typeface="Times New Roman" pitchFamily="18" charset="0"/>
              </a:rPr>
              <a:t>    Data </a:t>
            </a:r>
            <a:r>
              <a:rPr lang="ru-RU" dirty="0">
                <a:latin typeface="Times New Roman" pitchFamily="18" charset="0"/>
                <a:cs typeface="Times New Roman" pitchFamily="18" charset="0"/>
              </a:rPr>
              <a:t>Mining успешно применяют в области </a:t>
            </a:r>
            <a:r>
              <a:rPr lang="ru-RU" b="1" dirty="0">
                <a:latin typeface="Times New Roman" pitchFamily="18" charset="0"/>
                <a:cs typeface="Times New Roman" pitchFamily="18" charset="0"/>
              </a:rPr>
              <a:t>Интернет технологий</a:t>
            </a:r>
            <a:r>
              <a:rPr lang="ru-RU" dirty="0">
                <a:latin typeface="Times New Roman" pitchFamily="18" charset="0"/>
                <a:cs typeface="Times New Roman" pitchFamily="18" charset="0"/>
              </a:rPr>
              <a:t>, </a:t>
            </a:r>
            <a:r>
              <a:rPr lang="ru-RU" b="1" dirty="0">
                <a:latin typeface="Times New Roman" pitchFamily="18" charset="0"/>
                <a:cs typeface="Times New Roman" pitchFamily="18" charset="0"/>
              </a:rPr>
              <a:t>телекоммуникаций</a:t>
            </a:r>
            <a:r>
              <a:rPr lang="ru-RU" dirty="0">
                <a:latin typeface="Times New Roman" pitchFamily="18" charset="0"/>
                <a:cs typeface="Times New Roman" pitchFamily="18" charset="0"/>
              </a:rPr>
              <a:t>, </a:t>
            </a:r>
            <a:r>
              <a:rPr lang="ru-RU" b="1" dirty="0">
                <a:latin typeface="Times New Roman" pitchFamily="18" charset="0"/>
                <a:cs typeface="Times New Roman" pitchFamily="18" charset="0"/>
              </a:rPr>
              <a:t>страховании</a:t>
            </a:r>
            <a:r>
              <a:rPr lang="ru-RU" dirty="0">
                <a:latin typeface="Times New Roman" pitchFamily="18" charset="0"/>
                <a:cs typeface="Times New Roman" pitchFamily="18" charset="0"/>
              </a:rPr>
              <a:t>, </a:t>
            </a:r>
            <a:r>
              <a:rPr lang="ru-RU" b="1" dirty="0">
                <a:latin typeface="Times New Roman" pitchFamily="18" charset="0"/>
                <a:cs typeface="Times New Roman" pitchFamily="18" charset="0"/>
              </a:rPr>
              <a:t>логистики</a:t>
            </a:r>
            <a:r>
              <a:rPr lang="ru-RU" dirty="0">
                <a:latin typeface="Times New Roman" pitchFamily="18" charset="0"/>
                <a:cs typeface="Times New Roman" pitchFamily="18" charset="0"/>
              </a:rPr>
              <a:t> транспортных и авиакомпаний, </a:t>
            </a:r>
            <a:r>
              <a:rPr lang="ru-RU" b="1" dirty="0">
                <a:latin typeface="Times New Roman" pitchFamily="18" charset="0"/>
                <a:cs typeface="Times New Roman" pitchFamily="18" charset="0"/>
              </a:rPr>
              <a:t>медицине</a:t>
            </a:r>
            <a:r>
              <a:rPr lang="ru-RU" dirty="0">
                <a:latin typeface="Times New Roman" pitchFamily="18" charset="0"/>
                <a:cs typeface="Times New Roman" pitchFamily="18" charset="0"/>
              </a:rPr>
              <a:t>, </a:t>
            </a:r>
            <a:r>
              <a:rPr lang="ru-RU" b="1" dirty="0">
                <a:latin typeface="Times New Roman" pitchFamily="18" charset="0"/>
                <a:cs typeface="Times New Roman" pitchFamily="18" charset="0"/>
              </a:rPr>
              <a:t>молекулярной генетике</a:t>
            </a:r>
            <a:r>
              <a:rPr lang="ru-RU" dirty="0">
                <a:latin typeface="Times New Roman" pitchFamily="18" charset="0"/>
                <a:cs typeface="Times New Roman" pitchFamily="18" charset="0"/>
              </a:rPr>
              <a:t>, </a:t>
            </a:r>
            <a:r>
              <a:rPr lang="ru-RU" b="1" dirty="0">
                <a:latin typeface="Times New Roman" pitchFamily="18" charset="0"/>
                <a:cs typeface="Times New Roman" pitchFamily="18" charset="0"/>
              </a:rPr>
              <a:t>прикладной химии</a:t>
            </a:r>
            <a:r>
              <a:rPr lang="ru-RU" dirty="0">
                <a:latin typeface="Times New Roman" pitchFamily="18" charset="0"/>
                <a:cs typeface="Times New Roman" pitchFamily="18" charset="0"/>
              </a:rPr>
              <a:t>. </a:t>
            </a:r>
            <a:endParaRPr lang="ru-RU" dirty="0" smtClean="0">
              <a:latin typeface="Times New Roman" pitchFamily="18" charset="0"/>
              <a:cs typeface="Times New Roman" pitchFamily="18" charset="0"/>
            </a:endParaRPr>
          </a:p>
          <a:p>
            <a:pPr marL="0" indent="0" algn="just">
              <a:spcBef>
                <a:spcPts val="0"/>
              </a:spcBef>
              <a:buNone/>
            </a:pPr>
            <a:r>
              <a:rPr lang="ru-RU" dirty="0">
                <a:latin typeface="Times New Roman" pitchFamily="18" charset="0"/>
                <a:cs typeface="Times New Roman" pitchFamily="18" charset="0"/>
              </a:rPr>
              <a:t> </a:t>
            </a:r>
            <a:r>
              <a:rPr lang="ru-RU" dirty="0" smtClean="0">
                <a:latin typeface="Times New Roman" pitchFamily="18" charset="0"/>
                <a:cs typeface="Times New Roman" pitchFamily="18" charset="0"/>
              </a:rPr>
              <a:t>    Можно </a:t>
            </a:r>
            <a:r>
              <a:rPr lang="ru-RU" dirty="0">
                <a:latin typeface="Times New Roman" pitchFamily="18" charset="0"/>
                <a:cs typeface="Times New Roman" pitchFamily="18" charset="0"/>
              </a:rPr>
              <a:t>продолжить список примеров различных областей знания и практической деятельности, где применимы методы Data Mining. Особенность этих областей заключается в их сложной системной организации, </a:t>
            </a:r>
            <a:r>
              <a:rPr lang="ru-RU" b="1" dirty="0">
                <a:latin typeface="Times New Roman" pitchFamily="18" charset="0"/>
                <a:cs typeface="Times New Roman" pitchFamily="18" charset="0"/>
              </a:rPr>
              <a:t>закономерности которой не могут быть достаточно точно описаны на языке статистических или математических </a:t>
            </a:r>
            <a:r>
              <a:rPr lang="ru-RU" b="1" dirty="0" smtClean="0">
                <a:latin typeface="Times New Roman" pitchFamily="18" charset="0"/>
                <a:cs typeface="Times New Roman" pitchFamily="18" charset="0"/>
              </a:rPr>
              <a:t>моделей, в том числе и за счет наличия большого количества категориальных предикторов</a:t>
            </a:r>
            <a:r>
              <a:rPr lang="ru-RU" dirty="0" smtClean="0">
                <a:latin typeface="Times New Roman" pitchFamily="18" charset="0"/>
                <a:cs typeface="Times New Roman" pitchFamily="18" charset="0"/>
              </a:rPr>
              <a:t>. </a:t>
            </a:r>
            <a:endParaRPr lang="ru-RU" dirty="0" smtClean="0">
              <a:latin typeface="Times New Roman" pitchFamily="18" charset="0"/>
              <a:cs typeface="Times New Roman" pitchFamily="18" charset="0"/>
            </a:endParaRPr>
          </a:p>
          <a:p>
            <a:pPr marL="0" indent="0" algn="just">
              <a:spcBef>
                <a:spcPts val="0"/>
              </a:spcBef>
              <a:buNone/>
            </a:pPr>
            <a:r>
              <a:rPr lang="ru-RU"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   Модели в</a:t>
            </a:r>
            <a:r>
              <a:rPr lang="ru-RU" dirty="0" smtClean="0">
                <a:latin typeface="Times New Roman" pitchFamily="18" charset="0"/>
                <a:cs typeface="Times New Roman" pitchFamily="18" charset="0"/>
              </a:rPr>
              <a:t> Data </a:t>
            </a:r>
            <a:r>
              <a:rPr lang="ru-RU" dirty="0" smtClean="0">
                <a:latin typeface="Times New Roman" pitchFamily="18" charset="0"/>
                <a:cs typeface="Times New Roman" pitchFamily="18" charset="0"/>
              </a:rPr>
              <a:t>Mining могут иметь графическую иллюстрацию, но в отличии от методов прикладной статистики не имеют аналитической записи, но они могут быть представлены программными кодами в различных средах, по которым несложно написать приложения для автоматизации вычислений.  </a:t>
            </a:r>
            <a:endParaRPr lang="ru-R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51520" y="188640"/>
            <a:ext cx="8712968" cy="1800200"/>
          </a:xfrm>
        </p:spPr>
        <p:txBody>
          <a:bodyPr>
            <a:normAutofit fontScale="55000" lnSpcReduction="20000"/>
          </a:bodyPr>
          <a:lstStyle/>
          <a:p>
            <a:pPr marL="0" indent="0" algn="just">
              <a:spcBef>
                <a:spcPts val="0"/>
              </a:spcBef>
              <a:buNone/>
            </a:pPr>
            <a:r>
              <a:rPr lang="ru-RU" dirty="0" smtClean="0">
                <a:latin typeface="Times New Roman" pitchFamily="18" charset="0"/>
                <a:cs typeface="Times New Roman" pitchFamily="18" charset="0"/>
              </a:rPr>
              <a:t>    Data </a:t>
            </a:r>
            <a:r>
              <a:rPr lang="ru-RU" dirty="0">
                <a:latin typeface="Times New Roman" pitchFamily="18" charset="0"/>
                <a:cs typeface="Times New Roman" pitchFamily="18" charset="0"/>
              </a:rPr>
              <a:t>Mining является мультидисциплинарной областью, возникшей и развивающейся на базе достижений прикладной статистики, распознавания образов, методов искусственного интеллекта, теории баз данных, экспертных систем и др. </a:t>
            </a:r>
            <a:r>
              <a:rPr lang="ru-RU" dirty="0" smtClean="0">
                <a:latin typeface="Times New Roman" pitchFamily="18" charset="0"/>
                <a:cs typeface="Times New Roman" pitchFamily="18" charset="0"/>
              </a:rPr>
              <a:t>[2] </a:t>
            </a:r>
            <a:r>
              <a:rPr lang="ru-RU" dirty="0">
                <a:latin typeface="Times New Roman" pitchFamily="18" charset="0"/>
                <a:cs typeface="Times New Roman" pitchFamily="18" charset="0"/>
              </a:rPr>
              <a:t>(рис.1.1). Отсюда обилие методов и алгоритмов, реализованных в различных действующих системах Data Mining. </a:t>
            </a:r>
            <a:endParaRPr lang="ru-RU" dirty="0" smtClean="0">
              <a:latin typeface="Times New Roman" pitchFamily="18" charset="0"/>
              <a:cs typeface="Times New Roman" pitchFamily="18" charset="0"/>
            </a:endParaRPr>
          </a:p>
          <a:p>
            <a:pPr marL="0" indent="0" algn="just">
              <a:spcBef>
                <a:spcPts val="0"/>
              </a:spcBef>
              <a:buNone/>
            </a:pPr>
            <a:r>
              <a:rPr lang="ru-RU" dirty="0" smtClean="0">
                <a:latin typeface="Times New Roman" pitchFamily="18" charset="0"/>
                <a:cs typeface="Times New Roman" pitchFamily="18" charset="0"/>
              </a:rPr>
              <a:t>    Таким </a:t>
            </a:r>
            <a:r>
              <a:rPr lang="ru-RU" dirty="0">
                <a:latin typeface="Times New Roman" pitchFamily="18" charset="0"/>
                <a:cs typeface="Times New Roman" pitchFamily="18" charset="0"/>
              </a:rPr>
              <a:t>образом, </a:t>
            </a:r>
            <a:r>
              <a:rPr lang="en-US" dirty="0">
                <a:latin typeface="Times New Roman" pitchFamily="18" charset="0"/>
                <a:cs typeface="Times New Roman" pitchFamily="18" charset="0"/>
              </a:rPr>
              <a:t>Data Mining</a:t>
            </a:r>
            <a:r>
              <a:rPr lang="ru-RU" dirty="0">
                <a:latin typeface="Times New Roman" pitchFamily="18" charset="0"/>
                <a:cs typeface="Times New Roman" pitchFamily="18" charset="0"/>
              </a:rPr>
              <a:t> это мощный инструментарий для обработки и, анализа данных сложной структуры и его применение в настоящее время весьма актуально. </a:t>
            </a:r>
          </a:p>
          <a:p>
            <a:endParaRPr lang="ru-RU" dirty="0"/>
          </a:p>
        </p:txBody>
      </p:sp>
      <p:pic>
        <p:nvPicPr>
          <p:cNvPr id="2050" name="Picture 2"/>
          <p:cNvPicPr>
            <a:picLocks noChangeAspect="1" noChangeArrowheads="1"/>
          </p:cNvPicPr>
          <p:nvPr/>
        </p:nvPicPr>
        <p:blipFill>
          <a:blip r:embed="rId2" cstate="print"/>
          <a:srcRect/>
          <a:stretch>
            <a:fillRect/>
          </a:stretch>
        </p:blipFill>
        <p:spPr bwMode="auto">
          <a:xfrm>
            <a:off x="1126860" y="2147888"/>
            <a:ext cx="6685499" cy="363313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9512" y="188640"/>
            <a:ext cx="8784976" cy="720080"/>
          </a:xfrm>
        </p:spPr>
        <p:txBody>
          <a:bodyPr>
            <a:normAutofit/>
          </a:bodyPr>
          <a:lstStyle/>
          <a:p>
            <a:pPr marL="0" indent="0" algn="just">
              <a:spcBef>
                <a:spcPts val="0"/>
              </a:spcBef>
              <a:buNone/>
            </a:pPr>
            <a:r>
              <a:rPr lang="ru-RU" sz="1800" dirty="0">
                <a:latin typeface="Times New Roman" pitchFamily="18" charset="0"/>
                <a:cs typeface="Times New Roman" pitchFamily="18" charset="0"/>
              </a:rPr>
              <a:t>В пакете </a:t>
            </a:r>
            <a:r>
              <a:rPr lang="en-US" sz="1800" dirty="0">
                <a:latin typeface="Times New Roman" pitchFamily="18" charset="0"/>
                <a:cs typeface="Times New Roman" pitchFamily="18" charset="0"/>
              </a:rPr>
              <a:t>STATISTICA Data Mining </a:t>
            </a:r>
            <a:r>
              <a:rPr lang="ru-RU" sz="1800" dirty="0">
                <a:latin typeface="Times New Roman" pitchFamily="18" charset="0"/>
                <a:cs typeface="Times New Roman" pitchFamily="18" charset="0"/>
              </a:rPr>
              <a:t>состоит из широкого спектра модулей, представленных в меню (рис.1.2).</a:t>
            </a:r>
          </a:p>
          <a:p>
            <a:pPr>
              <a:buNone/>
            </a:pPr>
            <a:endParaRPr lang="ru-RU" dirty="0"/>
          </a:p>
        </p:txBody>
      </p:sp>
      <p:pic>
        <p:nvPicPr>
          <p:cNvPr id="3074" name="Picture 2"/>
          <p:cNvPicPr>
            <a:picLocks noChangeAspect="1" noChangeArrowheads="1"/>
          </p:cNvPicPr>
          <p:nvPr/>
        </p:nvPicPr>
        <p:blipFill>
          <a:blip r:embed="rId2" cstate="print"/>
          <a:srcRect/>
          <a:stretch>
            <a:fillRect/>
          </a:stretch>
        </p:blipFill>
        <p:spPr bwMode="auto">
          <a:xfrm>
            <a:off x="1653798" y="836712"/>
            <a:ext cx="5611927" cy="54006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9512" y="116632"/>
            <a:ext cx="8784976" cy="3888431"/>
          </a:xfrm>
        </p:spPr>
        <p:txBody>
          <a:bodyPr>
            <a:normAutofit fontScale="55000" lnSpcReduction="20000"/>
          </a:bodyPr>
          <a:lstStyle/>
          <a:p>
            <a:pPr marL="0" indent="0" algn="just">
              <a:spcBef>
                <a:spcPts val="0"/>
              </a:spcBef>
              <a:buNone/>
            </a:pPr>
            <a:r>
              <a:rPr lang="ru-RU" dirty="0" smtClean="0">
                <a:latin typeface="Times New Roman" pitchFamily="18" charset="0"/>
                <a:cs typeface="Times New Roman" pitchFamily="18" charset="0"/>
              </a:rPr>
              <a:t>    В </a:t>
            </a:r>
            <a:r>
              <a:rPr lang="ru-RU" dirty="0">
                <a:latin typeface="Times New Roman" pitchFamily="18" charset="0"/>
                <a:cs typeface="Times New Roman" pitchFamily="18" charset="0"/>
              </a:rPr>
              <a:t>данном цикле лекций рассмотрена технология работы с модулями </a:t>
            </a:r>
            <a:r>
              <a:rPr lang="en-US" dirty="0">
                <a:latin typeface="Times New Roman" pitchFamily="18" charset="0"/>
                <a:cs typeface="Times New Roman" pitchFamily="18" charset="0"/>
              </a:rPr>
              <a:t>Data Mining</a:t>
            </a:r>
            <a:r>
              <a:rPr lang="ru-RU" dirty="0">
                <a:latin typeface="Times New Roman" pitchFamily="18" charset="0"/>
                <a:cs typeface="Times New Roman" pitchFamily="18" charset="0"/>
              </a:rPr>
              <a:t>, имеющими отношение к решению задач классификации. В качестве тренировочного примера использован файл с 153 образцами белых вин марок </a:t>
            </a:r>
            <a:r>
              <a:rPr lang="ru-RU" i="1" dirty="0">
                <a:latin typeface="Times New Roman" pitchFamily="18" charset="0"/>
                <a:cs typeface="Times New Roman" pitchFamily="18" charset="0"/>
              </a:rPr>
              <a:t>Chardonnay </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Шардоне</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Riesling </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Рислинг</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Muscat </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Мускат</a:t>
            </a:r>
            <a:r>
              <a:rPr lang="ru-RU" dirty="0">
                <a:latin typeface="Times New Roman" pitchFamily="18" charset="0"/>
                <a:cs typeface="Times New Roman" pitchFamily="18" charset="0"/>
              </a:rPr>
              <a:t>), произведенных из винограда, выращенного в четырех регионах Краснодарского края – Taman (Таманской), Anapa (Анапской), South foothill (Южно-предгорной), Black Sea (Черноморской) зонах. Количественный состав вин по сортам и регионам произрастания винограда представлен в табл.1.1.  </a:t>
            </a:r>
            <a:endParaRPr lang="ru-RU" dirty="0" smtClean="0">
              <a:latin typeface="Times New Roman" pitchFamily="18" charset="0"/>
              <a:cs typeface="Times New Roman" pitchFamily="18" charset="0"/>
            </a:endParaRPr>
          </a:p>
          <a:p>
            <a:pPr marL="0" indent="0" algn="just">
              <a:spcBef>
                <a:spcPts val="0"/>
              </a:spcBef>
              <a:buNone/>
            </a:pPr>
            <a:r>
              <a:rPr lang="ru-RU" dirty="0" smtClean="0">
                <a:latin typeface="Times New Roman" pitchFamily="18" charset="0"/>
                <a:cs typeface="Times New Roman" pitchFamily="18" charset="0"/>
              </a:rPr>
              <a:t>  </a:t>
            </a:r>
            <a:r>
              <a:rPr lang="ru-RU" dirty="0">
                <a:latin typeface="Times New Roman" pitchFamily="18" charset="0"/>
                <a:cs typeface="Times New Roman" pitchFamily="18" charset="0"/>
              </a:rPr>
              <a:t>Вина характеризуются концентрациями 15 микроэлементов:</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Li</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Na</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Mg</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Al</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K</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Ca</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Ti</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Mn</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Fe</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Ni</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Cu</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Zn</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Rb</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Sr</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en-US" i="1" dirty="0">
                <a:latin typeface="Times New Roman" pitchFamily="18" charset="0"/>
                <a:cs typeface="Times New Roman" pitchFamily="18" charset="0"/>
              </a:rPr>
              <a:t>Ba</a:t>
            </a:r>
            <a:r>
              <a:rPr lang="ru-RU" dirty="0">
                <a:latin typeface="Times New Roman" pitchFamily="18" charset="0"/>
                <a:cs typeface="Times New Roman" pitchFamily="18" charset="0"/>
              </a:rPr>
              <a:t>.</a:t>
            </a:r>
            <a:r>
              <a:rPr lang="ru-RU" i="1" dirty="0">
                <a:latin typeface="Times New Roman" pitchFamily="18" charset="0"/>
                <a:cs typeface="Times New Roman" pitchFamily="18" charset="0"/>
              </a:rPr>
              <a:t> </a:t>
            </a:r>
            <a:r>
              <a:rPr lang="ru-RU" dirty="0">
                <a:latin typeface="Times New Roman" pitchFamily="18" charset="0"/>
                <a:cs typeface="Times New Roman" pitchFamily="18" charset="0"/>
              </a:rPr>
              <a:t>С точки зрения прикладной химии определенный интерес представляет вопрос – определяют ли концентрации микроэлементов группы однородности вин по сортам и регионам произрастания и возможна ли идентификация вин по сортовой	 и региональной принадлежности. Данная тема является актуальной, так как в наше время мировой рынок вина активно развивается, в связи, с чем немаловажным становится вопрос контроля качества продукции. Совершенствование методов классификации вин по их микроэлементному составу способно помочь в борьбе с их фальсификацией. </a:t>
            </a:r>
          </a:p>
          <a:p>
            <a:pPr marL="0" indent="0" algn="just">
              <a:spcBef>
                <a:spcPts val="0"/>
              </a:spcBef>
              <a:buNone/>
            </a:pPr>
            <a:r>
              <a:rPr lang="ru-RU" dirty="0" smtClean="0">
                <a:latin typeface="Times New Roman" pitchFamily="18" charset="0"/>
                <a:cs typeface="Times New Roman" pitchFamily="18" charset="0"/>
              </a:rPr>
              <a:t> </a:t>
            </a:r>
            <a:endParaRPr lang="ru-RU" dirty="0">
              <a:latin typeface="Times New Roman" pitchFamily="18" charset="0"/>
              <a:cs typeface="Times New Roman" pitchFamily="18" charset="0"/>
            </a:endParaRPr>
          </a:p>
          <a:p>
            <a:pPr>
              <a:buNone/>
            </a:pPr>
            <a:endParaRPr lang="ru-RU" dirty="0"/>
          </a:p>
        </p:txBody>
      </p:sp>
      <p:pic>
        <p:nvPicPr>
          <p:cNvPr id="4098" name="Picture 2"/>
          <p:cNvPicPr>
            <a:picLocks noChangeAspect="1" noChangeArrowheads="1"/>
          </p:cNvPicPr>
          <p:nvPr/>
        </p:nvPicPr>
        <p:blipFill>
          <a:blip r:embed="rId2" cstate="print"/>
          <a:srcRect/>
          <a:stretch>
            <a:fillRect/>
          </a:stretch>
        </p:blipFill>
        <p:spPr bwMode="auto">
          <a:xfrm>
            <a:off x="1746105" y="3861048"/>
            <a:ext cx="5051021" cy="192633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2400" dirty="0" smtClean="0"/>
              <a:t>Литература, использованная при составлении презентаций </a:t>
            </a:r>
            <a:endParaRPr lang="ru-RU" sz="2400" dirty="0"/>
          </a:p>
        </p:txBody>
      </p:sp>
      <p:pic>
        <p:nvPicPr>
          <p:cNvPr id="4" name="Picture 10"/>
          <p:cNvPicPr>
            <a:picLocks noChangeAspect="1" noChangeArrowheads="1"/>
          </p:cNvPicPr>
          <p:nvPr/>
        </p:nvPicPr>
        <p:blipFill>
          <a:blip r:embed="rId2" cstate="print"/>
          <a:srcRect/>
          <a:stretch>
            <a:fillRect/>
          </a:stretch>
        </p:blipFill>
        <p:spPr bwMode="auto">
          <a:xfrm>
            <a:off x="755576" y="1844823"/>
            <a:ext cx="2880320" cy="4371139"/>
          </a:xfrm>
          <a:prstGeom prst="rect">
            <a:avLst/>
          </a:prstGeom>
          <a:noFill/>
          <a:ln w="9525">
            <a:noFill/>
            <a:miter lim="800000"/>
            <a:headEnd/>
            <a:tailEnd/>
          </a:ln>
        </p:spPr>
      </p:pic>
      <p:pic>
        <p:nvPicPr>
          <p:cNvPr id="5" name="Picture 8"/>
          <p:cNvPicPr>
            <a:picLocks noChangeAspect="1" noChangeArrowheads="1"/>
          </p:cNvPicPr>
          <p:nvPr/>
        </p:nvPicPr>
        <p:blipFill>
          <a:blip r:embed="rId3" cstate="print"/>
          <a:srcRect/>
          <a:stretch>
            <a:fillRect/>
          </a:stretch>
        </p:blipFill>
        <p:spPr bwMode="auto">
          <a:xfrm>
            <a:off x="5004048" y="1844824"/>
            <a:ext cx="3031705" cy="4450692"/>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TotalTime>
  <Words>1902</Words>
  <Application>Microsoft Office PowerPoint</Application>
  <PresentationFormat>Экран (4:3)</PresentationFormat>
  <Paragraphs>50</Paragraphs>
  <Slides>11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11</vt:i4>
      </vt:variant>
    </vt:vector>
  </HeadingPairs>
  <TitlesOfParts>
    <vt:vector size="12" baseType="lpstr">
      <vt:lpstr>Тема Office</vt:lpstr>
      <vt:lpstr>Слайд 1</vt:lpstr>
      <vt:lpstr>  ВВЕДЕНИЕ </vt:lpstr>
      <vt:lpstr>Слайд 3</vt:lpstr>
      <vt:lpstr>Слайд 4</vt:lpstr>
      <vt:lpstr>Слайд 5</vt:lpstr>
      <vt:lpstr>Слайд 6</vt:lpstr>
      <vt:lpstr>Слайд 7</vt:lpstr>
      <vt:lpstr>Слайд 8</vt:lpstr>
      <vt:lpstr>Слайд 9</vt:lpstr>
      <vt:lpstr>Слайд 10</vt:lpstr>
      <vt:lpstr>Литература, использованная при составлении презентаций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ЛЕКЦИЯ 1. ВВЕДЕНИЕ  </dc:title>
  <dc:creator>Khaliphyan</dc:creator>
  <cp:lastModifiedBy>Khaliphyan</cp:lastModifiedBy>
  <cp:revision>33</cp:revision>
  <dcterms:created xsi:type="dcterms:W3CDTF">2021-07-27T06:12:48Z</dcterms:created>
  <dcterms:modified xsi:type="dcterms:W3CDTF">2024-09-03T07:00:14Z</dcterms:modified>
</cp:coreProperties>
</file>