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1" r:id="rId6"/>
    <p:sldId id="260" r:id="rId7"/>
    <p:sldId id="273" r:id="rId8"/>
    <p:sldId id="261" r:id="rId9"/>
    <p:sldId id="262" r:id="rId10"/>
    <p:sldId id="263" r:id="rId11"/>
    <p:sldId id="264" r:id="rId12"/>
    <p:sldId id="274" r:id="rId13"/>
    <p:sldId id="265" r:id="rId14"/>
    <p:sldId id="275" r:id="rId15"/>
    <p:sldId id="276" r:id="rId16"/>
    <p:sldId id="266" r:id="rId17"/>
    <p:sldId id="277" r:id="rId18"/>
    <p:sldId id="278" r:id="rId19"/>
    <p:sldId id="267" r:id="rId20"/>
    <p:sldId id="270" r:id="rId21"/>
    <p:sldId id="280" r:id="rId22"/>
    <p:sldId id="271" r:id="rId23"/>
    <p:sldId id="272" r:id="rId24"/>
    <p:sldId id="282" r:id="rId25"/>
    <p:sldId id="283" r:id="rId2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674" y="-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90A-FBD7-4F86-BA67-20163CE7F11F}" type="datetimeFigureOut">
              <a:rPr lang="ru-RU" smtClean="0"/>
              <a:pPr/>
              <a:t>06.10.2024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E733-5C7A-46D1-8837-54DCD55753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90A-FBD7-4F86-BA67-20163CE7F11F}" type="datetimeFigureOut">
              <a:rPr lang="ru-RU" smtClean="0"/>
              <a:pPr/>
              <a:t>06.10.2024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E733-5C7A-46D1-8837-54DCD55753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90A-FBD7-4F86-BA67-20163CE7F11F}" type="datetimeFigureOut">
              <a:rPr lang="ru-RU" smtClean="0"/>
              <a:pPr/>
              <a:t>06.10.2024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E733-5C7A-46D1-8837-54DCD55753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90A-FBD7-4F86-BA67-20163CE7F11F}" type="datetimeFigureOut">
              <a:rPr lang="ru-RU" smtClean="0"/>
              <a:pPr/>
              <a:t>06.10.2024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E733-5C7A-46D1-8837-54DCD55753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90A-FBD7-4F86-BA67-20163CE7F11F}" type="datetimeFigureOut">
              <a:rPr lang="ru-RU" smtClean="0"/>
              <a:pPr/>
              <a:t>06.10.2024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E733-5C7A-46D1-8837-54DCD55753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90A-FBD7-4F86-BA67-20163CE7F11F}" type="datetimeFigureOut">
              <a:rPr lang="ru-RU" smtClean="0"/>
              <a:pPr/>
              <a:t>06.10.2024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E733-5C7A-46D1-8837-54DCD55753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90A-FBD7-4F86-BA67-20163CE7F11F}" type="datetimeFigureOut">
              <a:rPr lang="ru-RU" smtClean="0"/>
              <a:pPr/>
              <a:t>06.10.2024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E733-5C7A-46D1-8837-54DCD55753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90A-FBD7-4F86-BA67-20163CE7F11F}" type="datetimeFigureOut">
              <a:rPr lang="ru-RU" smtClean="0"/>
              <a:pPr/>
              <a:t>06.10.2024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E733-5C7A-46D1-8837-54DCD55753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90A-FBD7-4F86-BA67-20163CE7F11F}" type="datetimeFigureOut">
              <a:rPr lang="ru-RU" smtClean="0"/>
              <a:pPr/>
              <a:t>06.10.2024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E733-5C7A-46D1-8837-54DCD55753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90A-FBD7-4F86-BA67-20163CE7F11F}" type="datetimeFigureOut">
              <a:rPr lang="ru-RU" smtClean="0"/>
              <a:pPr/>
              <a:t>06.10.2024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E733-5C7A-46D1-8837-54DCD55753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C90A-FBD7-4F86-BA67-20163CE7F11F}" type="datetimeFigureOut">
              <a:rPr lang="ru-RU" smtClean="0"/>
              <a:pPr/>
              <a:t>06.10.2024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FE733-5C7A-46D1-8837-54DCD55753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7C90A-FBD7-4F86-BA67-20163CE7F11F}" type="datetimeFigureOut">
              <a:rPr lang="ru-RU" smtClean="0"/>
              <a:pPr/>
              <a:t>06.10.2024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FE733-5C7A-46D1-8837-54DCD55753B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0"/>
            <a:ext cx="7772400" cy="360040"/>
          </a:xfrm>
        </p:spPr>
        <p:txBody>
          <a:bodyPr>
            <a:normAutofit fontScale="90000"/>
          </a:bodyPr>
          <a:lstStyle/>
          <a:p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Лекция 4.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Boosted Trees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260648"/>
            <a:ext cx="9144000" cy="6408712"/>
          </a:xfrm>
        </p:spPr>
        <p:txBody>
          <a:bodyPr>
            <a:noAutofit/>
          </a:bodyPr>
          <a:lstStyle/>
          <a:p>
            <a:pPr algn="just"/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Метод </a:t>
            </a:r>
            <a:r>
              <a:rPr lang="ru-RU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Растущие деревья классификации и регрессии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Boosted Tree Classifies and Regression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является одним из самых мощных методов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Mining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Успешно применяется для решения задач классификации и регрессии с непрерывными и/или категориальными предикторами. Относится к ансамблевым методам машинного обучения, которые базируются на парадигме, что </a:t>
            </a:r>
            <a:r>
              <a:rPr lang="ru-RU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прогноз несколькими моделями будет более точен, чем одной моделью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Метод использует технику градиентного бустинга, основной принцип которой заключается </a:t>
            </a:r>
            <a:r>
              <a:rPr lang="ru-RU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построении последовательности очень «простых» деревьев, в которой каждое последующее дерево строится с учетом ошибок предыдущего дерева, стараясь их уменьшить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Идея градиентного бустинга станет более понятной, если  обратимся, к какому либо командному (ансамблевому) виду спорта, например, наиболее популярному – футболу. Задача игроков совместными усилиями закатить (забить) мяч в ворота противника. Расстояние между мячом и воротами противника путем последовательности «простых» действий – передач футболистов сокращается (в предположении, что отсутствуют передачи назад) пока мяч не окажется в воротах противника. Каждое действие футболиста зависит от действий предыдущих игроков, учитывая их ошибки и решая задачу сокращения расстояния между мячом и воротами противника. Минимальная сложность дерева в модуле ограничена </a:t>
            </a:r>
            <a:r>
              <a:rPr lang="ru-RU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тремя вершинами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ветвление образуют корень и две дочерние вершины, но может быть пользователем изменена.  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188640"/>
            <a:ext cx="8856984" cy="648072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На каждом шаге работы алгоритма построения растущих деревьев определяется лучшее простое разбиение данных. Вычисляется отклонение наблюдаемых значений от ожидаемых средних значений, т.е., остатки разбиения.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Следующее бинарное дерево строится так, чтобы новое разбиение уменьшало остаточную изменчивость данных, исходя из уже построенной последовательности деревьев.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    Как уже говорилось переобучение – это проблема, присущая всем методам машинного обучения, включая деревья решений. Решение, реализованное в </a:t>
            </a:r>
            <a:r>
              <a:rPr lang="ru-RU" sz="2200" i="1" dirty="0" smtClean="0">
                <a:latin typeface="Times New Roman" pitchFamily="18" charset="0"/>
                <a:cs typeface="Times New Roman" pitchFamily="18" charset="0"/>
              </a:rPr>
              <a:t>Boosted Trees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основано на стохастичности, задаваемой построением каждого последующего простого дерева по случайно выбранной части исходных данных.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Следует заметить, что простые деревья в задаче классификации строятся отдельно для каждого класса категориальной целевой переменной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Таким образом, алгоритм стохастического градиентного бустинга является улучшением метода градиентного бустинга путём внесения рандомизации в процесс обучения базовых алгоритмов. А именно, на каждом шаге алгоритма новое расщепление производится, опираясь не на всю обучающую выборку, а на случайно выбранную часть фиксированного размера. Результаты работы таких модификаций зачастую заметно превосходят по качеству различные нестохастические варианты, могут привести к превосходному соответствию предсказанных значений наблюдаемым значениям, даже если конкретный характер отношений между предикторами и откликом  очень сложен и нелинейный по своей природе.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    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88640"/>
            <a:ext cx="8784976" cy="4608512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модуле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Boosted Trees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предусмотрена процедура построения графика функции ошибок для обучающих и тестовых данных по последовательным деревьям на каждом этапе. С помощью этого графика легко определить точку – оптимальное количество построенных деревьев, в которой модель, состоящая из определенного числа последовательных деревьев, лучшим образом соответствует данным.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    Для нахождения экстремальной точки используется то свойство, что функция ошибок предсказания для обучающих данных неуклонно уменьшается по мере добавления в модель все большего количества дополнительных деревьев. Однако, начиная с некоторого количества добавленных в модель деревьев, функция ошибок прогнозирования для тестовых выборок перестает убывать и начинает локально возрастать, четко указывая на точку, в которой модель начинает не соответствовать данным. Метод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Boosted Trees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автоматически определяет эту точку и предсказывает классы для задачи классификации, или вычисляет прогнозируемые значения для задачи регрессии. 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260648"/>
            <a:ext cx="8856984" cy="1872208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42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Перейдем </a:t>
            </a:r>
            <a:r>
              <a:rPr lang="ru-RU" sz="4200" dirty="0">
                <a:latin typeface="Times New Roman" pitchFamily="18" charset="0"/>
                <a:cs typeface="Times New Roman" pitchFamily="18" charset="0"/>
              </a:rPr>
              <a:t>к практической реализации </a:t>
            </a: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метода. </a:t>
            </a:r>
            <a:r>
              <a:rPr lang="ru-RU" sz="4200" dirty="0">
                <a:latin typeface="Times New Roman" pitchFamily="18" charset="0"/>
                <a:cs typeface="Times New Roman" pitchFamily="18" charset="0"/>
              </a:rPr>
              <a:t>В меню </a:t>
            </a:r>
            <a:r>
              <a:rPr lang="en-US" sz="4200" dirty="0" smtClean="0">
                <a:latin typeface="Times New Roman" pitchFamily="18" charset="0"/>
                <a:cs typeface="Times New Roman" pitchFamily="18" charset="0"/>
              </a:rPr>
              <a:t>Data Mining </a:t>
            </a: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выберем </a:t>
            </a:r>
            <a:r>
              <a:rPr lang="ru-RU" sz="4200" dirty="0">
                <a:latin typeface="Times New Roman" pitchFamily="18" charset="0"/>
                <a:cs typeface="Times New Roman" pitchFamily="18" charset="0"/>
              </a:rPr>
              <a:t>модуль </a:t>
            </a:r>
            <a:r>
              <a:rPr lang="en-US" sz="4200" dirty="0">
                <a:latin typeface="Times New Roman" pitchFamily="18" charset="0"/>
                <a:cs typeface="Times New Roman" pitchFamily="18" charset="0"/>
              </a:rPr>
              <a:t>Boosted Tree Classifies and Regression. </a:t>
            </a:r>
            <a:r>
              <a:rPr lang="ru-RU" sz="4200" dirty="0">
                <a:latin typeface="Times New Roman" pitchFamily="18" charset="0"/>
                <a:cs typeface="Times New Roman" pitchFamily="18" charset="0"/>
              </a:rPr>
              <a:t>Вкладка </a:t>
            </a:r>
            <a:r>
              <a:rPr lang="en-US" sz="4200" dirty="0">
                <a:latin typeface="Times New Roman" pitchFamily="18" charset="0"/>
                <a:cs typeface="Times New Roman" pitchFamily="18" charset="0"/>
              </a:rPr>
              <a:t>Quick </a:t>
            </a:r>
            <a:r>
              <a:rPr lang="ru-RU" sz="4200" dirty="0">
                <a:latin typeface="Times New Roman" pitchFamily="18" charset="0"/>
                <a:cs typeface="Times New Roman" pitchFamily="18" charset="0"/>
              </a:rPr>
              <a:t>на рис.2.4.1 в основной части идентична вкладкам предыдущих модулей деревьев решений</a:t>
            </a:r>
            <a:r>
              <a:rPr lang="ru-RU" sz="42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4200" dirty="0">
                <a:latin typeface="Times New Roman" pitchFamily="18" charset="0"/>
                <a:cs typeface="Times New Roman" pitchFamily="18" charset="0"/>
              </a:rPr>
              <a:t> При помощи кнопки </a:t>
            </a:r>
            <a:r>
              <a:rPr lang="en-US" sz="4200" dirty="0">
                <a:latin typeface="Times New Roman" pitchFamily="18" charset="0"/>
                <a:cs typeface="Times New Roman" pitchFamily="18" charset="0"/>
              </a:rPr>
              <a:t>Variable </a:t>
            </a:r>
            <a:r>
              <a:rPr lang="ru-RU" sz="4200" dirty="0">
                <a:latin typeface="Times New Roman" pitchFamily="18" charset="0"/>
                <a:cs typeface="Times New Roman" pitchFamily="18" charset="0"/>
              </a:rPr>
              <a:t>обозначим переменные для анализа, также как это было сделано в окне на рис.2.1.4. Установки на вкладке </a:t>
            </a:r>
            <a:r>
              <a:rPr lang="en-US" sz="4200" dirty="0">
                <a:latin typeface="Times New Roman" pitchFamily="18" charset="0"/>
                <a:cs typeface="Times New Roman" pitchFamily="18" charset="0"/>
              </a:rPr>
              <a:t>Classification</a:t>
            </a:r>
            <a:r>
              <a:rPr lang="ru-RU" sz="4200" dirty="0">
                <a:latin typeface="Times New Roman" pitchFamily="18" charset="0"/>
                <a:cs typeface="Times New Roman" pitchFamily="18" charset="0"/>
              </a:rPr>
              <a:t> (рис.2.4.2) оставим без изменений.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3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3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924944"/>
            <a:ext cx="4585387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68898" y="2924944"/>
            <a:ext cx="4575102" cy="3608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928813"/>
            <a:ext cx="640080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116632"/>
            <a:ext cx="8856984" cy="2232248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Для получения доступа к управлению различными параметрами алгоритма 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Boosted Trees воспользуемся 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вкладкой Advanced (рис.2.4.3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sz="3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Рассмотрим 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основные опции данной вкладки: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Learning rate or shrinkage rate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 (скорость обучения, или параметр сжатия) представляет собою вес,  с которым последовательные простые деревья добавляются в 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общую модель 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прогнозирования. Эмпирические исследования показали, что значение 0,1 или меньшее обычно приводят к моделям с лучшей предсказательной достоверностью;</a:t>
            </a:r>
          </a:p>
          <a:p>
            <a:pPr algn="just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7644" y="2276872"/>
            <a:ext cx="6707088" cy="4471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260649"/>
            <a:ext cx="8856984" cy="5400599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Number of additive terms (количество аддитивных деревьев) определяет количество простых деревьев, которые должны быть построены на последовательных шагах роста. В диалоговом окне Boosted Trees Results можно просмотреть промежуточные решения при наличии меньшего количества деревьев, чем было задано и построено. По умолчанию – 200;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Random test data proportion (доля случайных тестовых данных) указывает долю случайно выбранных наблюдений, которые будут служить тестовой выборкой при расчетах. Этот параметр применим только в том случае, если кнопка Test sample установлена в режиме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Off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 умолчанию – 0,3;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Subsample proportion (доля подвыборки) определяет долю выборки, которая будет использоваться для построения случайной обучающей выборки для последовательных шагов роста дерева, по умолчанию – 0,5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Seed for random number generator (начальное значение для генератора случайных чисел) задаёт начальную константу для запуска генератора случайных чисел, который используется для составления подвыборок последовательных деревьев роста , по умолчанию – 1;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 Stopping parameters (параметры остановки) управляют сложностью отдельных деревьев, которые будут построены на каждом последующем этапе роста. Рекомендуется указывать относительно простые деревья для каждого последовательного шага, например, оставлять деревья с 1 расщеплением и 3 узлами по умолчанию;</a:t>
            </a:r>
          </a:p>
          <a:p>
            <a:pPr marL="0" indent="0" algn="just">
              <a:spcBef>
                <a:spcPts val="0"/>
              </a:spcBef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116632"/>
            <a:ext cx="8856984" cy="6552728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  –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Minimum n of cases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(минимум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случаев) один из способов управления расщеплением, который  разрешает продолжение расщепление до тех пор,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пока вершины дерева классификации содержат более чем заданное минимальное число наблюдений,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по умолчанию – 5;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  –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Minimum n in child node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(минимум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в дочернем узле) управляет наименьшим допустимым числом наблюдений в дочернем узле для применения расщепления. Если параметр Minimum n of cases определяет, предполагается ли дополнительное разбиение на каком-либо конкретном узле, данный параметр определяет, будет ли применено разбиение, в зависимости от того, будет ли какой-либо из двух результирующих дочерних узлов иметь меньше наблюдений, чем n, указанное с помощью этой опции. Например,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Minimum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n =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3, узел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не будет расщеплен, если в каком-либо дочернем узле количество наблюдений меньше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3 (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т.е. либо 2, либо 1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Опция полезна, если в ходе анализа выяснилось, что последовательные деревья имеют тенденцию расщеплять очень маленькие конечные узлы вдоль одной стороны или ветви дерева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.;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  –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Maximum n of levels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(максимум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уровней) используется для остановки на основе количества уровней в дереве. Каждый раз, когда родительский узел расщепляется, проверяется общее количество уровней, т.е. глубина дерева, измеренная от корневого узла, и разбиение останавливается, если это число превышает число, указанное в данном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поле, по умолчанию 10;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88640"/>
            <a:ext cx="8784976" cy="6408712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Maximum n of nodes (максимум n узлов)  также применяется для остановки на основе количества узлов в каждом дереве. Каждый раз, когда родительский узел расщепляется, проверяется общее количество узлов в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простом дереве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и расщепление останавливается, если это число превышает число, указанное в данном поле. Значение по умолчанию 3 приводит к тому, что каждое последующее дерево будет состоять из одного разбиения, т.е. один корневой узел, два дочерних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узла;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Test sample (тестовая выборка) отображает одноименное диалоговое окно, которое используется для выбора тестовой выборки. Если переменная тестовой выборки и код не выбраны, программа по умолчанию создаст случайную подвыборку из 30% наблюдений в данных и обработает их как тестовую выборку, чтобы оценить оптимальное количество построенных деревьев, в которой модель, состоящая из определенного числа последовательных деревьев, наилучшим образом соответствует данным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    Оставим без изменения параметры вкладки, т.е.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без тестовой выборки, заданной переменной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идетификатором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щелкнем по кнопке ОК. Откроется окно результатов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Boosted Tree Results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вкладке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Quick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(рис.2.4.4). После нажатия на кнопку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Summary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появится график (рис.2.4.5) средней квадратичной ошибки для последовательных шагов роста дерева. На графике отображаются отдельные линии для данных обучающей 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Train data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и тестовой выборки 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Test data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66" y="2348880"/>
            <a:ext cx="3471411" cy="450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9912" y="2204864"/>
            <a:ext cx="5221913" cy="450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/>
          <p:cNvSpPr/>
          <p:nvPr/>
        </p:nvSpPr>
        <p:spPr>
          <a:xfrm>
            <a:off x="179512" y="116632"/>
            <a:ext cx="871296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Как видно из рисунка кривые скачкообразно убывают с увеличением количества деревьев. График при помощи вертикальной линии показывает конкретное количество деревьев – шагов роста, которые привели к наименьшей средней квадратичной ошибке в тестовой выборке. Это значение –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192,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отображено в поле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Number of Trees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 нижней части диалогового окна, вероятно, близко к модели прогнозирования с наилучшей прогностической достоверностью. </a:t>
            </a:r>
            <a:endParaRPr lang="ru-RU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"/>
            <a:ext cx="8856984" cy="652534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600" b="1" dirty="0" smtClean="0">
                <a:latin typeface="Times New Roman" pitchFamily="18" charset="0"/>
                <a:cs typeface="Times New Roman" pitchFamily="18" charset="0"/>
              </a:rPr>
              <a:t>В соответствии с установками на рис.2.4.3 для построения простых деревьев выборка случайным образом разбивалась на обучающую (70%) и тестовую (30%) выборки, это примерно по 46 и 107 образцов. Далее в каждой исходной вершине использовалось примерно 50% образцов из обучающей выборки – это примерно по 55 образцов. 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нажать на кнопку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Risk estimates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, появится табл.2.4.1 с оценками риска для обучающей и тестовой выборки. </a:t>
            </a:r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   При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решении задач классификации  с категориальной зависимой переменной и равными ценами ошибок на неправильную классификацию, риск рассчитывается как доля неправильно классифицированных деревьям объектов.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указаны неравные цены ошибочной классификации, то риск корректируется соответствующим образом, выражаясь относительно общей цены ошибочной классификации. </a:t>
            </a:r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    Для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задач регрессионного типа с непрерывной зависимой переменной риск рассчитывается как остаточная дисперсия.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График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и таблицу важности (вклада) предикторов в модель классификации можно получить при помощи кнопок </a:t>
            </a:r>
            <a:r>
              <a:rPr lang="ru-RU" sz="2600" i="1" dirty="0">
                <a:latin typeface="Times New Roman" pitchFamily="18" charset="0"/>
                <a:cs typeface="Times New Roman" pitchFamily="18" charset="0"/>
              </a:rPr>
              <a:t>Bargraph of predictor importance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600" i="1" dirty="0">
                <a:latin typeface="Times New Roman" pitchFamily="18" charset="0"/>
                <a:cs typeface="Times New Roman" pitchFamily="18" charset="0"/>
              </a:rPr>
              <a:t>Predictor importance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Как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видно из столбчатых диаграмм, наиболее важным предиктором для классификации является металл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Fe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, наименее важным – Sort. Обратите внимание, что вывод аналогичный выводу при построении дерева классификации методом стандартный C&amp;RT. Если сравнить рис.2.4.6 и 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рис.2.1.18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лекции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2)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то легко заметить, что есть определенное сходство в оценке важности предикторов двумя методами. 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1909416"/>
            <a:ext cx="5976664" cy="4670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1760" y="188640"/>
            <a:ext cx="5133504" cy="170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16633"/>
            <a:ext cx="8784976" cy="590465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dirty="0" smtClean="0"/>
              <a:t>    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Рамка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Final solution 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set of consecutive trees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) – окончательное решение (набор последовательных деревьев) используется для просмотра графиков построенных деревьев, начиная от 1 до оптимального 192, т.е. окончательного решения. При помощи полей Start of tree graphs/End of tree graphs указывается диапазон номеров простых деревьев, которые можно визуализировать при помощи графиков. В рамке можно указать категорию, по умолчанию –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All categories 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(все категории). На рис.2.4.7 – 2.4.8 для сравнения изображено первое (1) и последнее (192) простое дерево для Таманской зоны. В вершинах деревьев отображены средние значения остатков (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Mu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) и их дисперсий (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). </a:t>
            </a:r>
            <a:endParaRPr lang="ru-RU" sz="23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    Как 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видно, средние и дисперсии в вершинах дерева 192 значительно меньше соответствующих параметров дерева 1. Так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Mu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= -0,0903303 в вершине 1 дерева 192 более чем в 11 раз по абсолютной величине меньше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Mu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= 1,08 в вершине 1 дерева 1, а дисперсии отличаются более чем в 1800 раз. При помощи кнопки Tree structures для каждой категории можно построить таблицы с параметрами деревьев и условиями ветвления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. Обратите внимание, что в исходной вершине дерева 1 содержится 50 образцов, а у дерева 192 – 56 образцов.</a:t>
            </a:r>
            <a:endParaRPr lang="ru-RU" sz="23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5154" y="188639"/>
            <a:ext cx="7593270" cy="5885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7422" y="476736"/>
            <a:ext cx="7827025" cy="5936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404664"/>
            <a:ext cx="8640960" cy="3888432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анализа предсказательной способности метода перейдем на вкладку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Classification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(рис.2.4.9).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После нажатия по кнопке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Predicted…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появится 4 документа. Первый (табл.2.4.1) – это документ с апостериорными вероятностями принадлежности к классам – регионам. По этим вероятностям и вычисляются средние значения и среднеквадратические ошибки. Далее появятся график матрицы классификации и расширенная и сжатая матрицы классификации. На следующем слайде представлены матрицы классификации и их графические изображения для обучающей и тестовой выборки – табл.2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. 4.2., 2,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4.3, рис.2.4.10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2.4.11.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    Если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мы желаем улучшить предсказательные свойства ансамбля деревьев за счет увеличения их количества, не покидая вкладку, достаточно нажать на кнопку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More trees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. Программа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к 200 деревьям добавит еще 200 деревьев по умолчанию, т.е. будет построено 400 простых деревьев. 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8640"/>
            <a:ext cx="2906591" cy="5246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3491880" y="1340768"/>
            <a:ext cx="11685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Табл.2.4.1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1772816"/>
            <a:ext cx="5888091" cy="3401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836712"/>
            <a:ext cx="7196988" cy="4806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204864"/>
            <a:ext cx="4536504" cy="3894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22510" y="1772816"/>
            <a:ext cx="5021490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323528" y="188641"/>
            <a:ext cx="860444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Легко видеть, что в обучающей выборке (102 образца) отсутствуют ошибочные классификации, в тоже время в тестовой выборке (51 образец) 3: по 1 образцу Таманской и Южно-Предгорной зоны неверно отнесены к Черноморской зоне, и 1 образец Черноморской зоны ошибочно определен 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как образец Таманской зоны.    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endParaRPr lang="ru-RU" sz="2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6211669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вычислить долю ошибочной классификации в тестовой выборке 3/51 = 0,058, то получим значение риска для тестовой выборки из табл.2.4.1. </a:t>
            </a:r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7016" y="116632"/>
            <a:ext cx="5797152" cy="4968552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Вероятности классификации можно посмотреть, если воспользоваться кнопкой 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Predicted values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на вкладке 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Prediction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(рис.2.4.14).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табл.2.4.4 отображены апостериорные вероятности принадлежности образцов вин Таманской зоны к регионам, упорядоченные по убыванию вероятности принадлежности к данной зоне. Из таблицы видно, что для первых 22 образцов вероятности для Таманской зоны превосходят вероятности 3 других зон и эти образцы модулем классифицированы как образцы Таманской зоны (табл.2.4.3). Для 23 образца (номер 62) наибольшая вероятность для  Черноморской зоны, поэтому этот образец ошибочно отнесен модулем к Черноморской зоне (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табл.2.4.3).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19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7860" y="188639"/>
            <a:ext cx="2876628" cy="5042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6876256" y="5229200"/>
            <a:ext cx="1173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Рис.2.4.14</a:t>
            </a:r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3692" y="620688"/>
            <a:ext cx="7783657" cy="5361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16632"/>
            <a:ext cx="8856984" cy="295232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Попытаемся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улучшить предсказательные способности дерева, воспользовавшись опциями вкладки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Advanced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 на рис.2.4.3. При помощи поля  Number of additive terms увеличим количество построенных деревьев до 400. </a:t>
            </a:r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  На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графике (рис.2.4.15) средней квадратичной ошибки для последовательных шагов роста дерева у кривой, соответствующей тестовой выборке более явно, чем на рис.2.4.4 выражена точка минимума, соответствующая количеству деревьев равному 251. Это является предпосылкой, что построен ансамбль деревьев с лучшими прогностическими свойствами, чем предшествующий. При этом количество ошибок на тестовой выборке (табл.2.4.5) уменьшилось на 1, достигнув значения 2, количество ошибок на обучающей выборке осталось равным 0. </a:t>
            </a:r>
          </a:p>
          <a:p>
            <a:pPr>
              <a:buNone/>
            </a:pPr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996952"/>
            <a:ext cx="4608512" cy="3698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0327" y="3429000"/>
            <a:ext cx="5397277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88640"/>
            <a:ext cx="8784976" cy="3096344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   Наша задача построить дерево с максимальными прогностическими свойствами при разбиении на обучающую и тестовую выборки посредством переменной идентификатора. При тех же установках вкладки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Advanced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включим тестовую выборку (см. рис. ниже). Оптимальное количество построенных деревьев будет равно 385.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Количество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ошибочных классификаций в тестовой и обучающей выборке достигло минимально возможного значения – 0. 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2589971"/>
            <a:ext cx="5610121" cy="3719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9094" y="914538"/>
            <a:ext cx="6580035" cy="489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3789040"/>
            <a:ext cx="6471037" cy="2182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8184" y="810721"/>
            <a:ext cx="6695480" cy="2258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3290</TotalTime>
  <Words>2208</Words>
  <Application>Microsoft Office PowerPoint</Application>
  <PresentationFormat>Экран (4:3)</PresentationFormat>
  <Paragraphs>42</Paragraphs>
  <Slides>25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Тема Office</vt:lpstr>
      <vt:lpstr>Лекция 4. Boosted Trees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4. Boosted Trees</dc:title>
  <dc:creator>Khaliphyan</dc:creator>
  <cp:lastModifiedBy>Khaliphyan</cp:lastModifiedBy>
  <cp:revision>143</cp:revision>
  <dcterms:created xsi:type="dcterms:W3CDTF">2021-07-28T07:08:07Z</dcterms:created>
  <dcterms:modified xsi:type="dcterms:W3CDTF">2024-10-06T12:49:44Z</dcterms:modified>
</cp:coreProperties>
</file>